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Καλησπέρα σας. Ονομάζομαι Αλέξανδρος Λένης και θα σας παρουσιάσω τη διπλωματική μου εργασία, με επιβλέποντα τον Αναπληρωτή Καθηγητή κ. Σωτήρη Χριστοδούλου.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Η βραχυπρόθεσμη πρόβλεψη κατεύθυνσης είναι από τα δυσκολότερα προβλήματα. Οι τιμές δεν κινούνται μόνο βάσει αριθμών αλλά και βάσει της ροής πληροφορίας. Κίνητρό μου: ένα ενιαίο σύστημα που συνδυάζει και τα δύο, αξιολογημένο με απόλυτη εντιμότητα.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Η εργασία πατά σε τρεις πυλώνες: ανάλυση συναισθήματος, βαθιά μάθηση για χρονοσειρές, και μέθοδοι συνόλου. Το κενό: ελάχιστες εργασίες τα ενοποιούν με αυστηρή μεθοδολογία.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Τέσσερις στόχοι: συλλογή, συναίσθημα, συνδυαστική πρόβλεψη, εφαρμογή. Συνεισφορά διττή: τεχνική (πλήρες σύστημα) και μεθοδολογική (έντιμη αξιολόγηση + μελέτη στάθμισης).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Αρθρωτή αρχιτεκτονική έξι σταδίων. «Event-driven» = data-triggered· η ανίχνευση γίνεται με polling κάθε 20 λεπτά, όχι webhooks — το δηλώνω ρητά.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Περίπου 31.250 έγγραφα από 7 πηγές τριών κατηγοριών, 12 δείκτες. Deduplication και αποθήκευση σε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Δεν αντιμετωπίζω τις πηγές ως ισοδύναμες. Βάρη αξιοπιστίας εμπειρικά ορισμένα, σταθερά, χρησιμοποιούνται ως βάρος και ως χαρακτηριστικό. Τα συγκρίνω πειραματικά στο τέλος.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FinBERT, ειδικό για οικονομικά κείμενα. Σκορ ανά έγγραφο, και σταθμισμένη συνάθροιση με βάρος την αξιοπιστία της πηγής.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χαρακτηριστικά σε 6 ομάδες. Στόχος 3 κατηγοριών με κατώφλι ±2% στις 5 ημέρες.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Πέντε μοντέλα από διαφορετικές οικογένειες· ο συνδυασμός τους είναι πιο εύρωστος.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Το πιο κρίσιμο σημείο. Αυστηρά χρονικός διαχωρισμός ανά δείκτη, scalers μόνο στο train, εξισορρόπηση κλάσεων, early stopping — ώστε καμία διαρροή.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Σταθμισμένη ψηφοφορία με κατώφλι 0.40 και δυναμική στάθμιση (40/40/20). Τα αξιόπιστα μοντέλα επηρεάζουν περισσότερο.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Προβολή τιμής 18 ημερών, ζώνες με GARCH, Monte Carlo 500 διαδρομών, και μέτρα κινδύνου VaR/ES.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Διαδραστική εφαρμογή 3 καρτελών. Διαφάνεια μέσω SHAP. Εδώ μπορείς να δείξεις ζωντανό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n=4.452. Ακρίβεια ~41,6–41,7%, στατιστικά σημαντικά πάνω από τυχαίο και πλειοψηφία — CI, macro-F1, McNemar p&lt;0,001.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Διαφοροποιημένα αποτελέσματα· AAPL Sharpe&gt;2, αλλού υστέρηση. Δεν κερδίζει σταθερά την αγορά. Δηλώνω περιορισμούς: κόστη, slippage, survivorship.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Σύγκριση 4 σχημάτων. Συναίσθημα +1,4 μον. Reliability οριακά καλύτερο. Learned weights περιορίζονται από τα δεδομένα —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Το κρισιμότερο: διαρροή έδινε 60%+, η διόρθωση το έριξε στο 41%. Και άλλα ύπουλα σφάλματα. Προτίμησα το έντιμο αντί για το εντυπωσιακό.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Πλήρες σύστημα με μετρήσιμη, στατιστικά σημαντική ικανότητα, αυστηρή μεθοδολογία και διαφανή όρια.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Μελλοντικά: περισσότερο ιστορικό, learned weights, προσαρμογή σε regimes, και κόστη συναλλαγών.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Ευχαριστώ τον επιβλέποντα και την επιτροπή. Είμαι στη διάθεσή σας για ερωτήσεις.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Ανάπτυξη Ευφυούς Event-Driven Συστήματος Πρόβλεψης Χρηματιστηριακών Κινήσεων με Τεχνητή Νοημοσύνη και Ανάλυση Συναισθήματος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C6E"/>
                </a:solidFill>
              </a:rPr>
              <a:t>Διπλωματική Εργασία</a:t>
            </a:r>
          </a:p>
          <a:p>
            <a:pPr algn="ctr"/>
            <a:r>
              <a:rPr sz="1500" b="0">
                <a:solidFill>
                  <a:srgbClr val="666666"/>
                </a:solidFill>
              </a:rPr>
              <a:t>Αλέξανδρος Λένης — Α.Μ. 19092</a:t>
            </a:r>
          </a:p>
          <a:p>
            <a:pPr algn="ctr"/>
            <a:r>
              <a:rPr sz="1400" b="0">
                <a:solidFill>
                  <a:srgbClr val="666666"/>
                </a:solidFill>
              </a:rPr>
              <a:t>Επιβλέπων: Αναπλ. Καθηγητής Σωτήρης Χριστοδούλου</a:t>
            </a:r>
          </a:p>
          <a:p>
            <a:pPr algn="ctr"/>
            <a:r>
              <a:rPr sz="1200" b="0">
                <a:solidFill>
                  <a:srgbClr val="666666"/>
                </a:solidFill>
              </a:rPr>
              <a:t>Πανεπιστήμιο Πελοποννήσου, Τμήμα ΗΜΜΥ · Πάτρα, Ιούλιος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Το πρόβλημα &amp; το κίνητρο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Βραχυπρόθεσμη πρόβλεψη κατεύθυνσης = από τα δυσκολότερα προβλήματα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Υπόθεση αποτελεσματικής αγοράς vs συμπεριφορική χρηματοοικονομική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Οι τιμές επηρεάζονται και από τη ροή πληροφορίας / συναίσθημα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Στόχος: ενιαίο, πολυτροπικό σύστημα (τιμές + κείμενο)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Έμφαση στην ΕΝΤΙΜΗ αξιολόγηση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Θεωρητικό υπόβαθρο &amp; σχετική έρευνα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Ανάλυση συναισθήματος στη χρηματοοικονομική (Bollen, Tetlock)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Βαθιά μάθηση για χρονοσειρές (δίκτυα LSTM)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Μέθοδοι συνόλου (ensemble)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Κενό: ελάχιστες εργασίες ενοποιούν όλα σε λειτουργικό σύστημα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…και τηρούν αυστηρή μεθοδολογία χωρίς διαρροή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Στόχοι &amp; συνεισφορά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Αυτοματοποιημένη, event-driven συλλογή από 7 πηγές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Ανάλυση συναισθήματος με εξειδικευμένο μοντέλο (FinBERT)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Συνδυαστική πρόβλεψη μέσω 5 μοντέλων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Λειτουργικό, ερμηνεύσιμο εργαλείο (dashboard)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Συνεισφορά: έντιμη μεθοδολογία + μελέτη στάθμισης συναισθήματος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Αρχιτεκτονική του συστήματος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6 στάδια: Συλλογή → Συναίσθημα → Χαρακτηριστικά → Μοντέλα → Backend → UI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Event-driven = data-triggered (polling κάθε 20′, όχι webhooks)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Ανοιχτού κώδικα, αρθρωτή σχεδίαση</a:t>
            </a:r>
          </a:p>
        </p:txBody>
      </p:sp>
      <p:pic>
        <p:nvPicPr>
          <p:cNvPr id="5" name="Picture 4" descr="eikona_3_1_arxitektoni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7263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Πηγές δεδομένων &amp; συλλογή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~31.250 έγγραφα από 7 πηγές, 3 κατηγορίες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Πλατφόρμες: Yahoo, Finviz, MarketWatch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Ειδήσεις: CNBC, Benzinga, Alpha Vantage · Κοινωνικά: Reddit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12 δείκτες (10 μετοχές + SPY, QQQ)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Deduplication · αποθήκευση σε MongoDB (NoSQL)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Αξιοπιστία πηγών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Κάθε πηγή έχει βαθμό αξιοπιστίας (a-priori)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Υψηλός: θεσμικοί (CNBC 0.90, Alpha Vantage 0.92)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Χαμηλός: κοινωνικά δίκτυα (Reddit 0.60)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Χρήση: (α) βάρος στη συνάθροιση, (β) χαρακτηριστικό εισόδου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Συγκρίνεται εμπειρικά αργότερα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Ανάλυση συναισθήματος — FinBERT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FinBERT: BERT εκπαιδευμένο σε χρηματοοικονομικά κείμενα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Σκορ ανά έγγραφο = P(θετικό) − P(αρνητικό)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Σταθμισμένη συνάθροιση ανά ημέρα &amp; δείκτη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Βάρος = αξιοπιστία πηγής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Μηχανική χαρακτηριστικών &amp; στόχος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28 χαρακτηριστικά σε 6 ομάδες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Τιμές, τεχνικοί δείκτες, ταλαντωτές, μεταβλητότητα, όγκος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9 χαρακτηριστικά συναισθήματος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Στόχος: Αγορά / Πώληση / Κράτηση (±2% σε 5 ημέρες)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Τα πέντε μοντέλα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Random Forest (bagging)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XGBoost &amp; LightGBM (gradient boosting)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Logistic Regression (γραμμικό baseline)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LSTM (νευρωνικό δίκτυο χρονοσειρών)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Διαφορετικά σφάλματα → πιο εύρωστος συνδυασμός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Μεθοδολογία εκπαίδευσης (κρίσιμο!)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Χρονικός διαχωρισμός ΑΝΑ ΔΕΙΚΤΗ (80/20)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→ πρόβλεψη άγνωστου μέλλοντος, ΟΧΙ διαρροή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Εξισορρόπηση κλάσεων + έμφαση στο συναίσθημα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Scalers μόνο στο train · early stopping στα LSTM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Συνδυασμός μοντέλων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Σταθμισμένη ψηφοφορία 5 μοντέλων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Κατώφλι εμπιστοσύνης 0.40 (&gt;0.333 τυχαίο)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Δυναμική στάθμιση: 40% ακρίβεια + 40% confidence + 20% πρόσφατη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Τα πιο αξιόπιστα μοντέλα βαραίνουν περισσότερο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Πρόβλεψη τιμής &amp; ανάλυση κινδύνου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18-ήμερη προβολή τιμής (πολυβηματικό LSTM)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Ζώνες εμπιστοσύνης με μεταβλητότητα GARCH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Monte Carlo: 500 διαδρομές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Μέτρα κινδύνου: VaR &amp; Expected Shortfall</a:t>
            </a:r>
          </a:p>
        </p:txBody>
      </p:sp>
      <p:pic>
        <p:nvPicPr>
          <p:cNvPr id="5" name="Picture 4" descr="eikona_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37410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Η εφαρμογή (demo)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3 καρτέλες: Prediction · Backtest · Analysis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Γράφημα, κίνδυνος, κάρτες μοντέλων, τελική απόφαση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Ερμηνευσιμότητα με SHAP — όχι μαύρο κουτί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(εδώ: ζωντανό demo αν επιτρέπεται)</a:t>
            </a:r>
          </a:p>
        </p:txBody>
      </p:sp>
      <p:pic>
        <p:nvPicPr>
          <p:cNvPr id="5" name="Picture 4" descr="eikona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26877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Αξιολόγηση: ακρίβεια ταξινόμησης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n = 4.452 (out-of-sample)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Ακρίβεια ~41,6–41,7% (LSTM / Logistic)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vs τυχαίο 33,3% &amp; πλειοψηφία 37,9%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95% CI, macro-F1, McNemar p &lt; 0,001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Κάτω όριο CI (40,1%) &gt; πλειοψηφία</a:t>
            </a:r>
          </a:p>
        </p:txBody>
      </p:sp>
      <p:pic>
        <p:nvPicPr>
          <p:cNvPr id="5" name="Picture 4" descr="eikona_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17986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Αξιολόγηση: απόδοση στρατηγικής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Walk-forward backtest στο 20% hold-out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AAPL: ισχυρή απόδοση, Sharpe &gt; 2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Σε ανοδικούς δείκτες: υστέρηση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ΔΕΝ κερδίζει σταθερά την αγορά (έντιμα)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Περιορισμοί: κόστη, slippage, survivorship bias</a:t>
            </a:r>
          </a:p>
        </p:txBody>
      </p:sp>
      <p:pic>
        <p:nvPicPr>
          <p:cNvPr id="5" name="Picture 4" descr="eikona_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26577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Εστιασμένη μελέτη: στάθμιση συναισθήματος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Ερώτημα: βοηθά η στάθμιση αξιοπιστίας;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price-only 37,7% → +συναίσθημα 39,2% (+1,4 μον.)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reliability ελαφρώς &gt; unweighted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learned weights: όριο δεδομένων → future work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Έντιμη καταγραφή θετικών ΚΑΙ ορίων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Προβλήματα &amp; λύσεις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Διαρροή πληροφορίας: 60%+ → ρεαλιστικά 41%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Ασυμφωνία σειράς χαρακτηριστικών (LSTM)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Σφάλμα αντιστοίχισης κλάσεων στην αξιολόγηση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Σφάλματα κωδικοποίησης (UTF-8)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«Έντιμο αντί εντυπωσιακό»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Συμπεράσματα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Πλήρες, λειτουργικό, ανοιχτού κώδικα σύστημα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Μετρήσιμη (μέτρια) &amp; στατιστικά σημαντική ικανότητα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Αυστηρή, έντιμη μεθοδολογία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Διαφανής ανάδειξη δυνατοτήτων ΚΑΙ ορίων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Μελλοντικές προοπτικές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Μεγαλύτερο ιστορικό βάθος συναισθήματος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Μάθηση βαρών αξιοπιστίας από τα δεδομένα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Προσαρμογή σε market regimes (bull/bear)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Ενσωμάτωση κόστους συναλλαγών στην αξιολόγηση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  <a:latin typeface="Calibri"/>
              </a:rPr>
              <a:t>Ευχαριστίες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01168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Ευχαριστώ τον επιβλέποντα, Αναπλ. Καθ. Σ. Χριστοδούλου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Ευχαριστώ την επιτροπή για τον χρόνο της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Ερωτήσεις;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