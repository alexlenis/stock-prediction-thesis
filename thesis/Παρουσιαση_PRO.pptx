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Καλησπέρα σας. Ονομάζομαι Αλέξανδρος Λένης και θα παρουσιάσω τη διπλωματική μου, με επιβλέποντα τον Αναπλ. Καθηγητή κ. Σωτήρη Χριστοδούλου.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Σε μία εικόνα: το σύστημα μετατρέπει ειδήσεις και τιμές σε σήμα, μέσα από 8 στάδια, με έμφαση στο σταθμισμένο συναίσθημα και την έντιμη μεθοδολογία.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πρόβλημα είναι εγγενώς δύσκολο. Το κίνητρό μου: ένα ενιαίο, πολυτροπικό σύστημα, αξιολογημένο έντιμα.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Τέσσερις στόχοι. Η συνεισφορά είναι τεχνική και μεθοδολογική.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Αρθρωτή αρχιτεκτονική έξι σταδίων. Event-driven = data-triggered με polling, όχι webhooks.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Πλήρης στοίβα ανοιχτού κώδικα: Python/FastAPI, React, MongoDB, scikit-learn/XGBoost/LightGBM/TensorFlow, FinBERT σε PyTorch/Transformers, arch για GARCH, SHAP.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31.250 έγγραφα από 7 πηγές. Κάθε πηγή έχει βαθμό αξιοπιστίας, από 0.60 (Reddit) έως 0.92 (Alpha Vantage), που χρησιμοποιείται ως βάρος και ως χαρακτηριστικό.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FinBERT, ειδικό για οικονομικά. Σκορ ανά έγγραφο, σταθμισμένη συνάθροιση με βάρος την αξιοπιστία.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χαρακτηριστικά σε 6 ομάδες, με 9 από συναίσθημα. Στόχος 3 κατηγοριών με κατώφλι ±2% στις 5 ημέρες.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Πέντε μοντέλα από διαφορετικές οικογένειες. Ο συνδυασμός τους είναι πιο εύρωστος.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πιο κρίσιμο σημείο. Αυστηρός χρονικός διαχωρισμός ανά δείκτη, scalers μόνο στο train — ώστε καμία διαρροή. Η διόρθωση έριξε την ακρίβεια από 60% στο ρεαλιστικό 41%.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Σταθμισμένη ψηφοφορία με κατώφλι 0.40 και δυναμική στάθμιση. Προβολή τιμής 18 ημερών, και ανάλυση κινδύνου με GARCH, Monte Carlo, VaR/ES.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Διαδραστική εφαρμογή τριών καρτελών. Διαφάνεια μέσω SHAP — όχι μαύρο κουτί. Εδώ μπορείς να δείξεις ζωντανό demo στο localhost:5173.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n=4.452. Ακρίβεια ~41.6–41.7%, στατιστικά σημαντικά πάνω από τυχαίο και πλειοψηφία, με CI, macro-F1 και McNemar p&lt;0.001.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Διαφοροποιημένα αποτελέσματα. AAPL Sharpe&gt;2, αλλού υστέρηση. Δηλώνω ρητά τους περιορισμούς: κόστη, slippage, survivorship.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Σύγκριση 4 σχημάτων. Το συναίσθημα δίνει +1.4 μονάδες. Η στάθμιση αξιοπιστίας οριακά καλύτερη. Τα learned weights περιορίζονται από τα δεδομένα.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κρισιμότερο: διαρροή έδινε 60%+, η διόρθωση το έριξε στο 41%. Και άλλα ύπουλα σφάλματα. Προτίμησα το έντιμο αντί για το εντυπωσιακό.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Πλήρες σύστημα με μετρήσιμη, στατιστικά σημαντική ικανότητα και διαφανή όρια. Μελλοντικά: περισσότερο ιστορικό, learned weights, regimes, κόστη συναλλαγών.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Ευχαριστώ τον επιβλέποντα και την επιτροπή. Είμαι στη διάθεσή σας για ερωτήσεις.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AFC6E6"/>
                </a:solidFill>
                <a:latin typeface="Calibri"/>
              </a:rPr>
              <a:t>ΠΑΝΕΠΙΣΤΗΜΙΟ ΠΕΛΟΠΟΝΝΗΣΟΥ · ΤΜΗΜΑ ΗΛΕΚΤΡΟΛΟΓΩΝ ΜΗΧΑΝΙΚΩΝ &amp; ΜΗΧΑΝΙΚΩΝ ΥΠΟΛΟΓΙΣΤΩΝ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Ευφυές Event-Driven Σύστημα Πρόβλεψης</a:t>
            </a:r>
          </a:p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Χρηματιστηριακών Κινήσεων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7FD1C8"/>
                </a:solidFill>
                <a:latin typeface="Calibri"/>
              </a:rPr>
              <a:t>με Τεχνητή Νοημοσύνη &amp; Ανάλυση Συναισθήματος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3977639"/>
            <a:ext cx="2103120" cy="4572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Αλέξανδρος Λένης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D7EA"/>
                </a:solidFill>
                <a:latin typeface="Calibri"/>
              </a:rPr>
              <a:t>Α.Μ. 19092   ·   Επιβλέπων: Αναπλ. Καθηγητής Σωτήρης Χριστοδούλου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FB4D4"/>
                </a:solidFill>
                <a:latin typeface="Calibri"/>
              </a:rPr>
              <a:t>Πάτρα, Ιούλιος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1828800" cy="502920"/>
          </a:xfrm>
          <a:prstGeom prst="roundRect">
            <a:avLst/>
          </a:prstGeom>
          <a:solidFill>
            <a:srgbClr val="1E4070"/>
          </a:solidFill>
          <a:ln w="1270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 πηγές δεδομένων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5715000"/>
            <a:ext cx="2103120" cy="502920"/>
          </a:xfrm>
          <a:prstGeom prst="roundRect">
            <a:avLst/>
          </a:prstGeom>
          <a:solidFill>
            <a:srgbClr val="1E4070"/>
          </a:solidFill>
          <a:ln w="1270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5715000"/>
            <a:ext cx="21031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~31.250 έγγραφα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9" y="5715000"/>
            <a:ext cx="1737360" cy="502920"/>
          </a:xfrm>
          <a:prstGeom prst="roundRect">
            <a:avLst/>
          </a:prstGeom>
          <a:solidFill>
            <a:srgbClr val="1E4070"/>
          </a:solidFill>
          <a:ln w="1270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5715000"/>
            <a:ext cx="173736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 μοντέλα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5715000"/>
            <a:ext cx="2011680" cy="502920"/>
          </a:xfrm>
          <a:prstGeom prst="roundRect">
            <a:avLst/>
          </a:prstGeom>
          <a:solidFill>
            <a:srgbClr val="1E4070"/>
          </a:solidFill>
          <a:ln w="1270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5715000"/>
            <a:ext cx="20116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28 χαρακτηριστικά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5715000"/>
            <a:ext cx="1828800" cy="502920"/>
          </a:xfrm>
          <a:prstGeom prst="roundRect">
            <a:avLst/>
          </a:prstGeom>
          <a:solidFill>
            <a:srgbClr val="1E4070"/>
          </a:solidFill>
          <a:ln w="1270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571500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41.7% ακρίβεια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ΕΠΙΣΚΌΠΗΣΗ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Τι κάνει το σύστημα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A6370"/>
                </a:solidFill>
                <a:latin typeface="Calibri"/>
              </a:rPr>
              <a:t>Ένα ολοκληρωμένο, αυτοματοποιημένο σύστημα που μετατρέπει ειδήσεις + τιμές σε σήμα Buy / Sell / Hold, με ανάλυση κινδύνου και ερμηνευσιμότητα.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98448" cy="38404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 Πηγές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Yahoo, CNBC,
Reddit…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6FB7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3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39" y="2468880"/>
            <a:ext cx="1298448" cy="38404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3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Scrapers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59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event-driven
polling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399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6FB7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5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59" y="2468880"/>
            <a:ext cx="1298448" cy="3840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5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αποθήκευση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48F88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7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4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79" y="2468880"/>
            <a:ext cx="1298448" cy="3840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599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συναίσθημα
(σταθμισμένο)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48F88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19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199" y="2468880"/>
            <a:ext cx="1298448" cy="3840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19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28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19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τιμές +
συναίσθημα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59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C8861E"/>
                </a:solidFill>
                <a:latin typeface="Calib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1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19" y="2468880"/>
            <a:ext cx="1298448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1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 Μοντέλα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RF·XGB·LGBM
Logistic·LSTM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7D32"/>
                </a:solidFill>
                <a:latin typeface="Calibr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3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39" y="2468880"/>
            <a:ext cx="1298448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3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59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Buy/Sell/Hold
+ κίνδυνος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6999" y="2788920"/>
            <a:ext cx="256032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7D32"/>
                </a:solidFill>
                <a:latin typeface="Calibr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24159" y="2468880"/>
            <a:ext cx="1298448" cy="1371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42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24159" y="2468880"/>
            <a:ext cx="1298448" cy="384048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59" y="2468880"/>
            <a:ext cx="129844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2926080"/>
            <a:ext cx="1207007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370"/>
                </a:solidFill>
                <a:latin typeface="Calibri"/>
              </a:rPr>
              <a:t>React UI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160520"/>
            <a:ext cx="11064240" cy="1463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Καρδιά της καινοτομίας: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Σταθμισμένο συναίσθημα —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οι αξιόπιστες πηγές μετρούν περισσότερο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Αυστηρή, έντιμη μεθοδολογία —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χρονικός διαχωρισμός χωρίς διαρροή πληροφορίας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Πλήρης διαφάνεια —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κάθε πρόβλεψη εξηγείται (SHAP) + ποσοτικοποίηση κινδύνου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ΕΙΣΑΓΩΓΉ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Το πρόβλημα &amp; το κίνητρο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2E54"/>
                </a:solidFill>
                <a:latin typeface="Calibri"/>
              </a:rPr>
              <a:t>Η πρόκληση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Βραχυπρόθεσμη πρόβλεψη κατεύθυνσης = εξαιρετικά δύσκολη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Υπόθεση Αποτελεσματικής Αγοράς: οι τιμές ενσωματώνουν την πληροφορία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Όμως το συναίσθημα των επενδυτών ΟΝΤΩΣ κινεί τις αγορές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Οι περισσότερες λύσεις: ή μόνο τιμές ή μόνο κείμενο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94960" cy="4480560"/>
          </a:xfrm>
          <a:prstGeom prst="round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Η προσέγγισή μου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FFFFFF"/>
                </a:solidFill>
                <a:latin typeface="Calibri"/>
              </a:rPr>
              <a:t>Πολυτροπικό: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τιμές + κείμενο μαζί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FFFFFF"/>
                </a:solidFill>
                <a:latin typeface="Calibri"/>
              </a:rPr>
              <a:t>Αυτόματο &amp; event-driven: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σε πραγματικό χρόνο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FFFFFF"/>
                </a:solidFill>
                <a:latin typeface="Calibri"/>
              </a:rPr>
              <a:t>Πολλαπλά μοντέλα: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ensemble 5 αλγορίθμων</a:t>
            </a:r>
          </a:p>
          <a:p>
            <a:pPr>
              <a:spcAft>
                <a:spcPts val="8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FFFFFF"/>
                </a:solidFill>
                <a:latin typeface="Calibri"/>
              </a:rPr>
              <a:t>Έντιμη αξιολόγηση: </a:t>
            </a:r>
            <a:r>
              <a:rPr sz="1550" b="0" i="0">
                <a:solidFill>
                  <a:srgbClr val="FFFFFF"/>
                </a:solidFill>
                <a:latin typeface="Calibri"/>
              </a:rPr>
              <a:t>χωρίς φουσκωμένα νούμερα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ΠΛΑΊΣΙΟ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Στόχοι της εργασίας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9748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2697480" cy="8229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46504"/>
            <a:ext cx="269748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142E54"/>
                </a:solidFill>
                <a:latin typeface="Calibri"/>
              </a:rPr>
              <a:t>Συλλογή δεδομένων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83280"/>
            <a:ext cx="2368296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Αυτόματη, event-driven άντληση από 7 ετερογενείς πηγές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691640"/>
            <a:ext cx="269748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691640"/>
            <a:ext cx="2697480" cy="82296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746504"/>
            <a:ext cx="269748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65176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142E54"/>
                </a:solidFill>
                <a:latin typeface="Calibri"/>
              </a:rPr>
              <a:t>Ανάλυση συναισθήματος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83280"/>
            <a:ext cx="2368296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Βαθμολόγηση χρηματοοικονομικού κειμένου με FinBERT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691640"/>
            <a:ext cx="269748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691640"/>
            <a:ext cx="2697480" cy="82296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1746504"/>
            <a:ext cx="269748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65176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142E54"/>
                </a:solidFill>
                <a:latin typeface="Calibri"/>
              </a:rPr>
              <a:t>Συνδυαστική πρόβλεψη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83280"/>
            <a:ext cx="2368296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Ensemble 5 μοντέλων για σήμα Buy/Sell/Hold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1691640"/>
            <a:ext cx="269748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0264" y="1691640"/>
            <a:ext cx="269748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0264" y="1746504"/>
            <a:ext cx="269748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65176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142E54"/>
                </a:solidFill>
                <a:latin typeface="Calibri"/>
              </a:rPr>
              <a:t>Λειτουργικό εργαλείο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3383280"/>
            <a:ext cx="2368296" cy="1005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Διαδραστικό, ερμηνεύσιμο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54880"/>
            <a:ext cx="11091672" cy="1143000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2E54"/>
                </a:solidFill>
                <a:latin typeface="Calibri"/>
              </a:rPr>
              <a:t>Συνεισφορά: 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2733"/>
                </a:solidFill>
                <a:latin typeface="Calibri"/>
              </a:rPr>
              <a:t>πλήρες σύστημα ανοιχτού κώδικα + μεθοδολογική αυστηρότητα + εστιασμένη μελέτη για τη στάθμιση συναισθήματος με βάση την αξιοπιστία πηγής.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ΣΧΕΔΙΑΣΜΌΣ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Αρχιτεκτονική του συστήματος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eikona_3_1_arxitekton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996597" cy="512064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852160" y="18288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02733"/>
                </a:solidFill>
                <a:latin typeface="Calibri"/>
              </a:rPr>
              <a:t>Αρθρωτή σχεδίαση: </a:t>
            </a:r>
            <a:r>
              <a:rPr sz="1700" b="0" i="0">
                <a:solidFill>
                  <a:srgbClr val="202733"/>
                </a:solidFill>
                <a:latin typeface="Calibri"/>
              </a:rPr>
              <a:t>6 ανεξάρτητα στάδια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02733"/>
                </a:solidFill>
                <a:latin typeface="Calibri"/>
              </a:rPr>
              <a:t>Event-driven: </a:t>
            </a:r>
            <a:r>
              <a:rPr sz="1700" b="0" i="0">
                <a:solidFill>
                  <a:srgbClr val="202733"/>
                </a:solidFill>
                <a:latin typeface="Calibri"/>
              </a:rPr>
              <a:t>data-triggered (polling 20′)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02733"/>
                </a:solidFill>
                <a:latin typeface="Calibri"/>
              </a:rPr>
              <a:t>Όχι webhooks/broker </a:t>
            </a:r>
            <a:r>
              <a:rPr sz="1700" b="0" i="0">
                <a:solidFill>
                  <a:srgbClr val="202733"/>
                </a:solidFill>
                <a:latin typeface="Calibri"/>
              </a:rPr>
              <a:t>— το δηλώνω ρητά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02733"/>
                </a:solidFill>
                <a:latin typeface="Calibri"/>
              </a:rPr>
              <a:t>Client–server: </a:t>
            </a:r>
            <a:r>
              <a:rPr sz="1700" b="0" i="0">
                <a:solidFill>
                  <a:srgbClr val="202733"/>
                </a:solidFill>
                <a:latin typeface="Calibri"/>
              </a:rPr>
              <a:t>FastAPI backend + React frontend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02733"/>
                </a:solidFill>
                <a:latin typeface="Calibri"/>
              </a:rPr>
              <a:t>Πλήρως </a:t>
            </a:r>
            <a:r>
              <a:rPr sz="1700" b="0" i="0">
                <a:solidFill>
                  <a:srgbClr val="202733"/>
                </a:solidFill>
                <a:latin typeface="Calibri"/>
              </a:rPr>
              <a:t>ανοιχτού κώδικα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937760"/>
            <a:ext cx="5760720" cy="914400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5029200"/>
            <a:ext cx="539496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2E54"/>
                </a:solidFill>
                <a:latin typeface="Calibri"/>
              </a:rPr>
              <a:t>Ροή: Πηγές → Scrapers → MongoDB → FinBERT → Features → Μοντέλα → Backend →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ΥΛΟΠΟΊΗΣΗ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Τεχνολογίες &amp; εργαλεία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611880" cy="4572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Backend &amp;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Python 3.11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FastAPI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Uvicorn (ASGI)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64592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645920"/>
            <a:ext cx="3611880" cy="45720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64592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1284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React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Vite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TailwindCSS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axios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64592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645920"/>
            <a:ext cx="3611880" cy="45720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164592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Βάση &amp; Συλλογή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21284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C8861E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MongoDB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8861E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requests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8861E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BeautifulSoup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8861E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yfinance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4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36118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Μηχανική Μάθηση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4456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scikit-learn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XGBoost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LightGBM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TensorFlow/Keras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397764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8536" y="3977640"/>
            <a:ext cx="3611880" cy="45720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397764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NLP / Συναίσθημα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454456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142E54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FinBERT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E54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Transformers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142E54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PyTorch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3977640"/>
            <a:ext cx="361188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1" y="3977640"/>
            <a:ext cx="3611880" cy="45720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1" y="3977640"/>
            <a:ext cx="3611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Κίνδυνος &amp; Ερμηνεία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54456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arch (GARCH)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Monte Carlo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202733"/>
                </a:solidFill>
                <a:latin typeface="Calibri"/>
              </a:rPr>
              <a:t>SHAP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A6370"/>
                </a:solidFill>
                <a:latin typeface="Calibri"/>
              </a:rPr>
              <a:t>Όλα ανοιχτού κώδικα — καμία εμπορική εξάρτηση.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ΔΕΔΟΜΈΝΑ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Πηγές δεδομένων &amp; αξιοπιστία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8595360" cy="45720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Πηγή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74320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Κατηγορία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Αξιοπιστία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645920"/>
            <a:ext cx="16459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Έγγραφα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85953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Alpha 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Ειδήσεις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0.92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1031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13.521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603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CNBC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5603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Ειδησεογραφική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603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0.90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5603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185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17520"/>
            <a:ext cx="85953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175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Yahoo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0175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Πλατφόρμα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0175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E6FB7"/>
                </a:solidFill>
                <a:latin typeface="Calibri"/>
              </a:rPr>
              <a:t>0.85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0175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3.155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747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4747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Benzinga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4747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Ειδησεογραφική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4747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E6FB7"/>
                </a:solidFill>
                <a:latin typeface="Calibri"/>
              </a:rPr>
              <a:t>0.85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4747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85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31920"/>
            <a:ext cx="85953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319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Finviz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39319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Πλατφόρμα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9319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C8861E"/>
                </a:solidFill>
                <a:latin typeface="Calibri"/>
              </a:rPr>
              <a:t>0.80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9319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9.149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891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3891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MarketWatch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3891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Ειδησεογραφική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3891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C8861E"/>
                </a:solidFill>
                <a:latin typeface="Calibri"/>
              </a:rPr>
              <a:t>0.80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3891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2.845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46320"/>
            <a:ext cx="8595360" cy="457200"/>
          </a:xfrm>
          <a:prstGeom prst="rect">
            <a:avLst/>
          </a:prstGeom>
          <a:solidFill>
            <a:srgbClr val="F5F8FC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8463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02733"/>
                </a:solidFill>
                <a:latin typeface="Calibri"/>
              </a:rPr>
              <a:t>Reddit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846320"/>
            <a:ext cx="25603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A6370"/>
                </a:solidFill>
                <a:latin typeface="Calibri"/>
              </a:rPr>
              <a:t>Κοινωνικό δίκτυο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846320"/>
            <a:ext cx="12801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C03939"/>
                </a:solidFill>
                <a:latin typeface="Calibri"/>
              </a:rPr>
              <a:t>0.60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8463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02733"/>
                </a:solidFill>
                <a:latin typeface="Calibri"/>
              </a:rPr>
              <a:t>2.309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1645920"/>
            <a:ext cx="233172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6880" y="1645920"/>
            <a:ext cx="82296" cy="105156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36607" y="1737360"/>
            <a:ext cx="2148839" cy="609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48F88"/>
                </a:solidFill>
                <a:latin typeface="Calibri"/>
              </a:rPr>
              <a:t>~31.250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73184" y="2276856"/>
            <a:ext cx="2075687" cy="378561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συνολικά έγγραφα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2834640"/>
            <a:ext cx="233172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26880" y="2834640"/>
            <a:ext cx="82296" cy="10515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607" y="2926080"/>
            <a:ext cx="2148839" cy="609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6FB7"/>
                </a:solidFill>
                <a:latin typeface="Calibri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3184" y="3465576"/>
            <a:ext cx="2075687" cy="378561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δείκτες (10 μετοχές+2 ETF)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26880" y="4023360"/>
            <a:ext cx="2331720" cy="1691640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4114800"/>
            <a:ext cx="2103120" cy="1554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42E54"/>
                </a:solidFill>
                <a:latin typeface="Calibri"/>
              </a:rPr>
              <a:t>Η αξιοπιστία (a-priori) χρησιμοποιείται ως βάρος στη συνάθροιση ΚΑΙ ως χαρακτηριστικό εισόδου.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Ανάλυση συναισθήματος με FinBERT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FinBERT: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BERT εκπαιδευμένο σε χρηματοοικονομικά κείμενα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Γιατί εξειδικευμένο;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η γλώσσα των οικονομικών είναι ιδιαίτερη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Σκορ ανά έγγραφο: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P(θετικό) − P(αρνητικό) ∈ [−1, 1]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Σταθμισμένη συνάθροιση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ανά ημέρα &amp; δείκτη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202733"/>
                </a:solidFill>
                <a:latin typeface="Calibri"/>
              </a:rPr>
              <a:t>Βάρος = αξιοπιστία πηγής </a:t>
            </a:r>
            <a:r>
              <a:rPr sz="1600" b="0" i="0">
                <a:solidFill>
                  <a:srgbClr val="202733"/>
                </a:solidFill>
                <a:latin typeface="Calibri"/>
              </a:rPr>
              <a:t>→ αξιόπιστες πηγές μετρούν περισσότερο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1828800"/>
          </a:xfrm>
          <a:prstGeom prst="round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846320" cy="1645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7FD1C8"/>
                </a:solidFill>
                <a:latin typeface="Calibri"/>
              </a:rPr>
              <a:t>Σταθμισμένος μέσος όρος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sent_mean = Σ(wᵢ · sᵢ) / Σ wᵢ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C9D7EA"/>
                </a:solidFill>
                <a:latin typeface="Calibri"/>
              </a:rPr>
              <a:t>όπου w = αξιοπιστία,  s = σκορ FinBERT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21208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886200"/>
            <a:ext cx="4846320" cy="1828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2E54"/>
                </a:solidFill>
                <a:latin typeface="Calibri"/>
              </a:rPr>
              <a:t>9 χαρακτηριστικά συναισθήματος: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3"/>
                </a:solidFill>
                <a:latin typeface="Calibri"/>
              </a:rPr>
              <a:t>μέση τιμή, τυπ. απόκλιση, πλήθος, αξιοπιστία, χρονικές υστερήσεις (lags), κυλιόμενοι μέσοι 3/7 ημερών, ορμή συναισθήματος.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ΜΗΧΑΝΙΚΉ ΧΑΡΑΚΤΗΡΙΣΤΙΚΏΝ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28 χαρακτηριστικά σε 6 ομάδες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777240" cy="16002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56232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Τιμές (OHLCV)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2404872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Open, High, Low, Close,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91640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691640"/>
            <a:ext cx="777240" cy="160020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691640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1856232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Τεχνικοί δείκτες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3" y="2404872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MA5/10, Momentum, Returns, lags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691640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691640"/>
            <a:ext cx="777240" cy="160020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1" y="1691640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1" y="1856232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Ταλαντωτές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404872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RSI14, MACD, MACD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56432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56432"/>
            <a:ext cx="777240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56432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3621024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Μεταβλητότητα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4169664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Volatility5, Bollinger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8536" y="3456432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88536" y="3456432"/>
            <a:ext cx="777240" cy="160020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3456432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3621024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Όγκος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3" y="4169664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Volume ratio, High/Low ratio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3456432"/>
            <a:ext cx="3611880" cy="1600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3456432"/>
            <a:ext cx="777240" cy="160020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3456432"/>
            <a:ext cx="777240" cy="1600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1" y="3621024"/>
            <a:ext cx="265176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Συναίσθημα (NLP)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169664"/>
            <a:ext cx="260604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mean/std/count, lags, 3d/7d, ορμή, αξιοπιστία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11091672" cy="868680"/>
          </a:xfrm>
          <a:prstGeom prst="round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230368"/>
            <a:ext cx="1069848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FD1C8"/>
                </a:solidFill>
                <a:latin typeface="Calibri"/>
              </a:rPr>
              <a:t>Στόχος: 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Αγορά / Πώληση / Κράτηση — αν η απόδοση 5 ημερών ξεπερνά ±2%.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ΜΗΧΑΝΙΚΉ ΜΆΘΗΣΗ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Τα 5 μοντέλα του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91672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28016" cy="74980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365760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676656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370"/>
                </a:solidFill>
                <a:latin typeface="Calibri"/>
              </a:rPr>
              <a:t>Bagging · 300 δέντρα, βάθος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11091672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15184"/>
            <a:ext cx="128016" cy="74980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15184"/>
            <a:ext cx="365760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15184"/>
            <a:ext cx="676656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370"/>
                </a:solidFill>
                <a:latin typeface="Calibri"/>
              </a:rPr>
              <a:t>Boosting · 400 δέντρα, lr 0.03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93008"/>
            <a:ext cx="11091672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93008"/>
            <a:ext cx="128016" cy="74980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365760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93008"/>
            <a:ext cx="676656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370"/>
                </a:solidFill>
                <a:latin typeface="Calibri"/>
              </a:rPr>
              <a:t>Boosting (leaf-wise) · 400 δέντρα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70831"/>
            <a:ext cx="11091672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128016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1"/>
            <a:ext cx="365760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Logistic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70831"/>
            <a:ext cx="676656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370"/>
                </a:solidFill>
                <a:latin typeface="Calibri"/>
              </a:rPr>
              <a:t>Γραμμικό baseline · softmax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48655"/>
            <a:ext cx="11091672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48655"/>
            <a:ext cx="128016" cy="749808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48655"/>
            <a:ext cx="365760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2E54"/>
                </a:solidFill>
                <a:latin typeface="Calibri"/>
              </a:rPr>
              <a:t>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48655"/>
            <a:ext cx="6766560" cy="7498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A6370"/>
                </a:solidFill>
                <a:latin typeface="Calibri"/>
              </a:rPr>
              <a:t>Νευρωνικό χρονοσειρών · 64→32, dropout 0.2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1091672" cy="685800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69848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42E54"/>
                </a:solidFill>
                <a:latin typeface="Calibri"/>
              </a:rPr>
              <a:t>Διαφορετικές οικογένειες → διαφορετικά σφάλματα → πιο εύρωστος συνδυασμός (σταθμισμένη ψηφοφορία).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ΤΟ ΠΙΟ ΚΡΊΣΙΜΟ ΣΗΜΕΊΟ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Μεθοδολογία εκπαίδευσης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94960" cy="429768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39"/>
                </a:solidFill>
                <a:latin typeface="Calibri"/>
              </a:rPr>
              <a:t>✗  Λάθος τρόπος (διαρροή)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Τυχαίος / γενικός διαχωρισμός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Το μοντέλο «βλέπει» έμμεσα το μέλλον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Ψευδώς υψηλή ακρίβεια &gt; 60%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3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Μη ρεαλιστικά αποτελέσματα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394960" cy="4297680"/>
          </a:xfrm>
          <a:prstGeom prst="roundRect">
            <a:avLst/>
          </a:prstGeom>
          <a:solidFill>
            <a:srgbClr val="ECF6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✓  Ο τρόπος μου (χωρίς διαρροή)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Χρονικός διαχωρισμός ΑΝΑ ΔΕΙΚΤΗ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(80/20)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Πρόβλεψη μόνο άγνωστου μέλλοντος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Scalers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προσαρμοσμένοι μόνο στο train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Εξισορρόπηση κλάσεων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+ έμφαση συναισθήματος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Early stopping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στα νευρωνικά δίκτυα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ΑΠΌΦΑΣΗ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Συνδυασμός, πρόβλεψη τιμής &amp; κίνδυνος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202733"/>
                </a:solidFill>
                <a:latin typeface="Calibri"/>
              </a:rPr>
              <a:t>Σταθμισμένη ψηφοφορία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5 μοντέλων</a:t>
            </a:r>
          </a:p>
          <a:p>
            <a:pPr>
              <a:spcAft>
                <a:spcPts val="11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202733"/>
                </a:solidFill>
                <a:latin typeface="Calibri"/>
              </a:rPr>
              <a:t>Κατώφλι εμπιστοσύνης 0.40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(&gt; 0.333 τυχαίο)</a:t>
            </a:r>
          </a:p>
          <a:p>
            <a:pPr>
              <a:spcAft>
                <a:spcPts val="11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202733"/>
                </a:solidFill>
                <a:latin typeface="Calibri"/>
              </a:rPr>
              <a:t>Δυναμική στάθμιση: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40% ακρίβεια + 40% confidence + 20% πρόσφατη</a:t>
            </a:r>
          </a:p>
          <a:p>
            <a:pPr>
              <a:spcAft>
                <a:spcPts val="1100"/>
              </a:spcAft>
            </a:pPr>
            <a:r>
              <a:rPr sz="155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50" b="1" i="0">
                <a:solidFill>
                  <a:srgbClr val="202733"/>
                </a:solidFill>
                <a:latin typeface="Calibri"/>
              </a:rPr>
              <a:t>18-ήμερη προβολή τιμής </a:t>
            </a:r>
            <a:r>
              <a:rPr sz="1550" b="0" i="0">
                <a:solidFill>
                  <a:srgbClr val="202733"/>
                </a:solidFill>
                <a:latin typeface="Calibri"/>
              </a:rPr>
              <a:t>(πολυβηματικό LSTM)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5486400" cy="1600200"/>
          </a:xfrm>
          <a:prstGeom prst="round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5120640" cy="13716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7FD1C8"/>
                </a:solidFill>
                <a:latin typeface="Calibri"/>
              </a:rPr>
              <a:t>Ανάλυση κινδύνου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GARCH(1,1) μεταβλητότητα · Monte Carlo 500 διαδρομές · VaR &amp; Expected Shortfall</a:t>
            </a:r>
          </a:p>
        </p:txBody>
      </p:sp>
      <p:pic>
        <p:nvPicPr>
          <p:cNvPr id="12" name="Picture 11" descr="eikona_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40680" cy="3590216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Η εφαρμογή — διαδραστικό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eikona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498079" cy="3554819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0" y="182880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3 καρτέλες: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Prediction, Backtest, Analysis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Γράφημα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+ 18ήμερη πρόβλεψη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Κάρτες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των 5 μοντέλων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Τελική απόφαση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ensemble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SHAP: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ερμηνεία κάθε πρόβλεψης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02733"/>
                </a:solidFill>
                <a:latin typeface="Calibri"/>
              </a:rPr>
              <a:t>Ζωντανά σήματα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αγοράς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ΑΞΙΟΛΌΓΗΣΗ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Αποτελέσματα: ακρίβεια ταξινόμησης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5176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82296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468879" cy="795527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7D32"/>
                </a:solidFill>
                <a:latin typeface="Calibri"/>
              </a:rPr>
              <a:t>41.7%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468880"/>
            <a:ext cx="2395728" cy="4937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καλύτερη ακρίβεια (LSTM)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5176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82296" cy="137160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737360"/>
            <a:ext cx="2468879" cy="795527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C8861E"/>
                </a:solidFill>
                <a:latin typeface="Calibri"/>
              </a:rPr>
              <a:t>37.9%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68880"/>
            <a:ext cx="2395728" cy="4937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βασική γραμμή πλειοψηφίας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265176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45920"/>
            <a:ext cx="82296" cy="1371600"/>
          </a:xfrm>
          <a:prstGeom prst="rect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737360"/>
            <a:ext cx="2468879" cy="795527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A6370"/>
                </a:solidFill>
                <a:latin typeface="Calibri"/>
              </a:rPr>
              <a:t>33.3%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468880"/>
            <a:ext cx="2395728" cy="4937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τυχαίο όριο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45920"/>
            <a:ext cx="2724912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645920"/>
            <a:ext cx="82296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737360"/>
            <a:ext cx="2542032" cy="795527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6FB7"/>
                </a:solidFill>
                <a:latin typeface="Calibri"/>
              </a:rPr>
              <a:t>p &lt; 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468880"/>
            <a:ext cx="2468880" cy="4937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McNemar (στατ. σημαντικό)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46120"/>
            <a:ext cx="11091672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10128"/>
            <a:ext cx="10698480" cy="1051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Τεκμηρίωση (n = 4.452, out-of-sample): 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2733"/>
                </a:solidFill>
                <a:latin typeface="Calibri"/>
              </a:rPr>
              <a:t>95% διάστημα εμπιστοσύνης 40.1–43.0% (κάτω όριο &gt; πλειοψηφία) · macro-F1 ≈ 0.40 · balanced accuracy ≈ 40% → το μοντέλο ΔΕΝ προβλέπει απλώς την πιο συχνή κλάση.</a:t>
            </a:r>
          </a:p>
        </p:txBody>
      </p:sp>
      <p:pic>
        <p:nvPicPr>
          <p:cNvPr id="27" name="Picture 26" descr="eikona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26280"/>
            <a:ext cx="11091672" cy="351891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Αποτελέσματα: απόδοση στρατηγικής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51760" cy="1280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82296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468879" cy="74249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7D32"/>
                </a:solidFill>
                <a:latin typeface="Calibri"/>
              </a:rPr>
              <a:t>+40.7%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414016"/>
            <a:ext cx="2395728" cy="460857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AAPL απόδοση στρατηγικής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51760" cy="1280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82296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737360"/>
            <a:ext cx="2468879" cy="74249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7D32"/>
                </a:solidFill>
                <a:latin typeface="Calibri"/>
              </a:rPr>
              <a:t>2.12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14016"/>
            <a:ext cx="2395728" cy="460857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Sharpe (AAPL)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2651760" cy="1280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45920"/>
            <a:ext cx="82296" cy="12801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737360"/>
            <a:ext cx="2468879" cy="74249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6FB7"/>
                </a:solidFill>
                <a:latin typeface="Calibri"/>
              </a:rPr>
              <a:t>+18.0%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414016"/>
            <a:ext cx="2395728" cy="460857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AAPL Buy &amp; 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45920"/>
            <a:ext cx="2724912" cy="12801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645920"/>
            <a:ext cx="82296" cy="128016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737360"/>
            <a:ext cx="2542032" cy="74249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48F88"/>
                </a:solidFill>
                <a:latin typeface="Calibri"/>
              </a:rPr>
              <a:t>70.9%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414016"/>
            <a:ext cx="2468880" cy="460857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370"/>
                </a:solidFill>
                <a:latin typeface="Calibri"/>
              </a:rPr>
              <a:t>ακρίβεια SPY (ETF)</a:t>
            </a:r>
          </a:p>
        </p:txBody>
      </p:sp>
      <p:pic>
        <p:nvPicPr>
          <p:cNvPr id="25" name="Picture 24" descr="eikona_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6949440" cy="3257865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7680960" y="3108960"/>
            <a:ext cx="3959352" cy="283464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246120"/>
            <a:ext cx="3611880" cy="2651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39"/>
                </a:solidFill>
                <a:latin typeface="Calibri"/>
              </a:rPr>
              <a:t>Εντιμότητα: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733"/>
                </a:solidFill>
                <a:latin typeface="Calibri"/>
              </a:rPr>
              <a:t>Δεν κερδίζει σταθερά την αγορά. Σε ανοδικούς δείκτες υστερεί.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733"/>
                </a:solidFill>
                <a:latin typeface="Calibri"/>
              </a:rPr>
              <a:t>Περιορισμοί (δηλωμένοι): κόστη συναλλαγών, slippage, survivorship bias δεν μοντελοποιούνται.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ΕΡΕΥΝΗΤΙΚΉ ΣΥΝΕΙΣΦΟΡΆ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Εστιασμένη μελέτη: στάθμιση συναισθήματος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5A6370"/>
                </a:solidFill>
                <a:latin typeface="Calibri"/>
              </a:rPr>
              <a:t>Ερώτημα: βελτιώνει η στάθμιση με βάση την αξιοπιστία, vs unweighted vs learned; (υποσύνολο 2024+)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0698480" cy="50292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7607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Σχήμα στάθμισης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219456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Ακρίβεια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057400"/>
            <a:ext cx="219456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566928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price-only (χωρίς συναίσθημα)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5A6370"/>
                </a:solidFill>
                <a:latin typeface="Calibri"/>
              </a:rPr>
              <a:t>37.74%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560320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0.367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27248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566928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Μη σταθμισμένο (unweighted)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E6FB7"/>
                </a:solidFill>
                <a:latin typeface="Calibri"/>
              </a:rPr>
              <a:t>38.89%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127248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0.370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566928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02733"/>
                </a:solidFill>
                <a:latin typeface="Calibri"/>
              </a:rPr>
              <a:t>Σταθμισμένο ως προς αξιοπιστία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94176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39.16%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694176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0.371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61104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61104"/>
            <a:ext cx="566928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Learned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61104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8861E"/>
                </a:solidFill>
                <a:latin typeface="Calibri"/>
              </a:rPr>
              <a:t>39.16%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61104"/>
            <a:ext cx="237744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02733"/>
                </a:solidFill>
                <a:latin typeface="Calibri"/>
              </a:rPr>
              <a:t>0.370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02733"/>
                </a:solidFill>
                <a:latin typeface="Calibri"/>
              </a:rPr>
              <a:t>Συναίσθημα: </a:t>
            </a:r>
            <a:r>
              <a:rPr sz="1400" b="0" i="0">
                <a:solidFill>
                  <a:srgbClr val="202733"/>
                </a:solidFill>
                <a:latin typeface="Calibri"/>
              </a:rPr>
              <a:t>+1.4 μονάδες έναντι price-only ✓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02733"/>
                </a:solidFill>
                <a:latin typeface="Calibri"/>
              </a:rPr>
              <a:t>Στάθμιση αξιοπιστίας: </a:t>
            </a:r>
            <a:r>
              <a:rPr sz="1400" b="0" i="0">
                <a:solidFill>
                  <a:srgbClr val="202733"/>
                </a:solidFill>
                <a:latin typeface="Calibri"/>
              </a:rPr>
              <a:t>οριακά καλύτερη (εντός θορύβου) — έντιμο εύρημα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02733"/>
                </a:solidFill>
                <a:latin typeface="Calibri"/>
              </a:rPr>
              <a:t>Learned weights: </a:t>
            </a:r>
            <a:r>
              <a:rPr sz="1400" b="0" i="0">
                <a:solidFill>
                  <a:srgbClr val="202733"/>
                </a:solidFill>
                <a:latin typeface="Calibri"/>
              </a:rPr>
              <a:t>όριο δεδομένων → μελλοντική εργασία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ΜΕΘΟΔΟΛΟΓΊΑ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Προβλήματα που αντιμετώπισα &amp; έλυσα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" cy="137160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1965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Διαρροή πληροφορίας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13432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Ψευδώς 60%+ → χρονικός διαχωρισμός → ρεαλιστικά 41%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91640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691640"/>
            <a:ext cx="109728" cy="137160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965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Σειρά χαρακτηριστικών 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313432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Ασυμφωνία train/predict → σιωπηλή υποβάθμιση → ενιαία σειρά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109728" cy="137160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37560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Αντιστοίχιση κλάσεων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31335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{-1,0,1} vs {0,1,2} στην αξιολόγηση → επαναχαρτογράφηση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3209544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3209544"/>
            <a:ext cx="109728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337560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Reddit → δείκτες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831335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Μόνο σύμβολα → 93% χάνονταν → λεξικό εμπορικών ονομάτων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27448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27448"/>
            <a:ext cx="109728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855464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Αραίωση συναισθήματος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349240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2024+ δεδομένα → βάρος ×1.5 + δίκαιη αξιολόγηση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4727448"/>
            <a:ext cx="54864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4727448"/>
            <a:ext cx="109728" cy="1371600"/>
          </a:xfrm>
          <a:prstGeom prst="rect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4855464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2E54"/>
                </a:solidFill>
                <a:latin typeface="Calibri"/>
              </a:rPr>
              <a:t>Κωδικοποίηση / CPU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1" y="5349240"/>
            <a:ext cx="5074920" cy="685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370"/>
                </a:solidFill>
                <a:latin typeface="Calibri"/>
              </a:rPr>
              <a:t>UTF-8 fix · εκπαίδευση σε CPU (όχι GPU σε Windows)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8F88"/>
                </a:solidFill>
                <a:latin typeface="Calibri"/>
              </a:rPr>
              <a:t>ΕΠΊΛΟΓΟΣ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42E54"/>
                </a:solidFill>
                <a:latin typeface="Calibri"/>
              </a:rPr>
              <a:t>Συμπεράσματα &amp; μελλοντικές προοπτικές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828800" cy="41148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A6370"/>
                </a:solidFill>
                <a:latin typeface="Calibri"/>
              </a:rPr>
              <a:t>Αλέξανδρος Λένης · Διπλωματική Εργασία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A6370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440680" cy="4297680"/>
          </a:xfrm>
          <a:prstGeom prst="round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7FD1C8"/>
                </a:solidFill>
                <a:latin typeface="Calibri"/>
              </a:rPr>
              <a:t>Συμπεράσματα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Πλήρες, λειτουργικό, ανοιχτού κώδικα σύστημα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Μετρήσιμη &amp; στατιστικά σημαντική ικανότητα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Τεκμηριωμένη συνεισφορά του συναισθήματος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Αυστηρή, έντιμη μεθοδολογία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48F8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Διαφανής ανάδειξη δυνατοτήτων ΚΑΙ ορίων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468112" cy="4297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2E54"/>
                </a:solidFill>
                <a:latin typeface="Calibri"/>
              </a:rPr>
              <a:t>Μελλοντικές προοπτικές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Μεγαλύτερο ιστορικό βάθος συναισθήματος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Μάθηση βαρών αξιοπιστίας από τα δεδομένα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Προσαρμογή σε market regimes (bull/bear)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Ενσωμάτωση κόστους συναλλαγών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E6FB7"/>
                </a:solidFill>
                <a:latin typeface="Calibri"/>
              </a:rPr>
              <a:t>▸ </a:t>
            </a:r>
            <a:r>
              <a:rPr sz="1500" b="0" i="0">
                <a:solidFill>
                  <a:srgbClr val="202733"/>
                </a:solidFill>
                <a:latin typeface="Calibri"/>
              </a:rPr>
              <a:t>Επέκταση σε άλλες αγορές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14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Σας ευχαριστώ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C9D7EA"/>
                </a:solidFill>
                <a:latin typeface="Calibri"/>
              </a:rPr>
              <a:t>Ευχαριστώ τον επιβλέποντα, Αναπλ. Καθηγητή κ. Σωτήρη Χριστοδούλου,</a:t>
            </a:r>
          </a:p>
          <a:p>
            <a:pPr algn="ctr">
              <a:spcAft>
                <a:spcPts val="1000"/>
              </a:spcAft>
            </a:pPr>
            <a:r>
              <a:rPr sz="1600" b="0" i="0">
                <a:solidFill>
                  <a:srgbClr val="C9D7EA"/>
                </a:solidFill>
                <a:latin typeface="Calibri"/>
              </a:rPr>
              <a:t>και τα μέλη της επιτροπής για τον χρόνο τους.</a:t>
            </a:r>
          </a:p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7FD1C8"/>
                </a:solidFill>
                <a:latin typeface="Calibri"/>
              </a:rPr>
              <a:t>Ερωτήσεις;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