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Καλησπέρα σας. Ονομάζομαι Αλέξανδρος Λένης και θα παρουσιάσω τη διπλωματική μου, με επιβλέποντα τον Αναπλ. Καθηγητή κ. Σωτήρη Χριστοδούλου.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Η παρουσίαση οργανώνεται σε δέκα ενότητες: από το κίνητρο και την αρχιτεκτονική, στα δεδομένα, τα μοντέλα, την εφαρμογή, την αξιολόγηση, την ερευνητική μελέτη, τα προβλήματα, την ηθική διάσταση, και τα συμπεράσματα.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Σε μία εικόνα: το σύστημα μετατρέπει ειδήσεις και τιμές σε σήμα, μέσα από 8 στάδια, με έμφαση στο σταθμισμένο συναίσθημα και την έντιμη μεθοδολογία.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πρόβλημα είναι εγγενώς δύσκολο. Το κίνητρό μου: ένα ενιαίο, πολυτροπικό σύστημα, αξιολογημένο έντιμα.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Τέσσερις στόχοι. Η συνεισφορά είναι τεχνική και μεθοδολογική.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Αρθρωτή αρχιτεκτονική έξι σταδίων. Event-driven = data-triggered με polling, όχι webhooks.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Όλες οι τεχνολογίες χρησιμοποιούνται πραγματικά. Backend: η Python τρέχει όλη τη λογική, το FastAPI εκθέτει το REST API και ο Uvicorn είναι ο διακομιστής. Frontend: React για τη διεπαφή, Vite για build, TailwindCSS για στυλ, lightweight-charts για τα γραφήματα, axios για την επικοινωνία. Δεδομένα: requests+BeautifulSoup για scraping HTML, yfinance για τιμές, MongoDB για αποθήκευση. Μηχανική μάθηση: scikit-learn (RF, Logistic, μετρικές), XGBoost &amp; LightGBM (boosting), TensorFlow/Keras (LSTM). NLP: το FinBERT τρέχει μέσω Transformers πάνω σε PyTorch. Κίνδυνος/ερμηνεία: arch για GARCH, δικός μου κώδικας για Monte Carlo, SHAP για επεξηγήσεις. Αν ρωτηθείς 'γιατί τόσες;': κάθε μία καλύπτει ένα διακριτό στάδιο — δεν υπάρχει επικάλυψη.</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Τι εννοούμε 'αξιοπιστία': είναι ένας βαθμός από 0 έως 1 που εκφράζει πόσο έγκυρη/επαληθευμένη είναι μια πηγή. Η λογική είναι απλή και διαισθητική: μια είδηση του CNBC ή του Alpha Vantage έχει συντακτικό έλεγχο, άρα αξίζει περισσότερο από μια ανώνυμη ανάρτηση στο Reddit. Πώς ορίστηκαν: εμπειρικά (a-priori), με βάση τον τύπο και τα συντακτικά πρότυπα κάθε πηγής — θεσμικοί οργανισμοί υψηλά (0.90–0.92), πλατφόρμες ενδιάμεσα (0.80–0.85), κοινωνικά δίκτυα χαμηλά (0.60). Πώς χρησιμοποιείται: (α) ως βάρος στον σταθμισμένο μέσο του συναισθήματος, ώστε οι αξιόπιστες πηγές να επηρεάζουν περισσότερο, και (β) ως χαρακτηριστικό εισόδου στα μοντέλα. ΠΡΟΣΟΧΗ αν ρωτηθείς: είναι σχεδιαστική επιλογή, όχι μαθημένη — και γι' αυτό ακριβώς την ελέγχω πειραματικά στη μελέτη στάθμισης (θα τη δείτε).</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FinBERT, ειδικό για οικονομικά. Σκορ ανά έγγραφο, σταθμισμένη συνάθροιση με βάρος την αξιοπιστία.</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Γιατί 6 ομάδες: τα 28 χαρακτηριστικά τα οργανώνω σε 6 κατηγορίες ανάλογα με ΤΙ αποτυπώνει το καθένα για την αγορά. (1) Τιμές/OHLCV: η ωμή πληροφορία τιμής και όγκου. (2) Τεχνικοί δείκτες: τάση, π.χ. κινητοί μέσοι και αποδόσεις. (3) Ταλαντωτές: ορμή και συνθήκες υπεραγοράς/υπερπώλησης, π.χ. RSI και MACD. (4) Μεταβλητότητα: πόσο 'νευρική' είναι η μετοχή, π.χ. τυπική απόκλιση αποδόσεων και ζώνες Bollinger. (5) Όγκος: η ένταση της συναλλακτικής δραστηριότητας. (6) Συναίσθημα: 9 χαρακτηριστικά από το FinBERT. Η ομαδοποίηση δεν είναι διακοσμητική — βοηθά στην ερμηνεία και στη μελέτη απομόνωσης (ablation), όπου αφαιρώ ομάδες για να δω ποια συνεισφέρει. Ο στόχος: 3 κατηγορίες, με κατώφλι ±2% στην απόδοση 5 ημερών, ώστε να φιλτράρεται ο θόρυβος.</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Πέντε μοντέλα από διαφορετικές οικογένειες. Ο συνδυασμός τους είναι πιο εύρωστος.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Το πιο κρίσιμο σημείο. Αυστηρός χρονικός διαχωρισμός ανά δείκτη, scalers μόνο στο train — ώστε καμία διαρροή. Η διόρθωση έριξε την ακρίβεια από 60% στο ρεαλιστικό 41%.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Σταθμισμένη ψηφοφορία με κατώφλι 0.40 και δυναμική στάθμιση. Προβολή τιμής 18 ημερών, και ανάλυση κινδύνου με GARCH, Monte Carlo, VaR/ES.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Διαδραστική εφαρμογή τριών καρτελών. Διαφάνεια μέσω SHAP — όχι μαύρο κουτί. Εδώ μπορείς να δείξεις ζωντανό demo στο localhost:5173.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Ένα από τα δυνατά σημεία: το σύστημα δεν είναι μαύρο κουτί. Με τη μέθοδο SHAP, που βασίζεται στη θεωρία παιγνίων, δείχνω για κάθε πρόβλεψη πόσο και προς ποια κατεύθυνση έσπρωξε το κάθε χαρακτηριστικό. Οι πράσινες μπάρες σπρώχνουν προς Αγορά, οι κόκκινες προς Πώληση. Το εντυπωσιακό: το κορυφαίο χαρακτηριστικό εδώ είναι το 'Sent Count', δηλαδή χαρακτηριστικό συναισθήματος — που επιβεβαιώνει έμπρακτα ότι η ανάλυση κειμένου συνεισφέρει πραγματικά στην πρόβλεψη.</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Μερικά ακόμη στιγμιότυπα της εφαρμογής σε χρήση: πάνω, οι κάρτες και των πέντε μοντέλων με το σήμα και την εμπιστοσύνη του καθενός· κάτω αριστερά, η καρτέλα ανάλυσης με την αρχιτεκτονική του ensemble και τις ομάδες χαρακτηριστικών· κάτω δεξιά, τα ζωντανά σήματα συναισθήματος ανά πηγή. Εδώ είναι η ιδανική στιγμή για ζωντανό demo, αν επιτρέπεται.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n=4.452. Ακρίβεια ~41.6–41.7%, στατιστικά σημαντικά πάνω από τυχαίο και πλειοψηφία, με CI, macro-F1 και McNemar p&lt;0.001.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Διαφοροποιημένα αποτελέσματα. AAPL Sharpe&gt;2, αλλού υστέρηση. Δηλώνω ρητά τους περιορισμούς: κόστη, slippage, survivorship.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Σύγκριση 4 σχημάτων. Το συναίσθημα δίνει +1.4 μονάδες. Η στάθμιση αξιοπιστίας οριακά καλύτερη. Τα learned weights περιορίζονται από τα δεδομένα.</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Θα εξηγήσω κάθε πρόβλημα με τη δομή σύμπτωμα → αιτία → λύση → αποτέλεσμα. (1) ΔΙΑΡΡΟΗ: σύμπτωμα, ύποπτα υψηλή ακρίβεια &gt;60%· αιτία, ο διαχωρισμός επέτρεπε στο μοντέλο να 'δει' έμμεσα το μέλλον· λύση, αυστηρός χρονικός διαχωρισμός ανά δείκτη· αποτέλεσμα, ρεαλιστικό 41% — το σημαντικότερο εύρημα. (2) ΣΕΙΡΑ LSTM: οι στήλες έμπαιναν με άλλη σειρά στην πρόβλεψη απ' ό,τι στην εκπαίδευση, οπότε κλιμακώνονταν λάθος· λύση, ενιαία κανονική σειρά. (3) ΑΝΤΙΣΤΟΙΧΙΣΗ ΚΛΑΣΕΩΝ: η αξιολόγηση σύγκρινε {-1,0,1} με {0,1,2} και έβγαζε ακρίβεια κάτω κι από το τυχαίο· λύση, επαναχαρτογράφηση. (4) REDDIT: αντιστοίχιζε μόνο σύμβολα (AAPL), όχι ονόματα (Apple), κι έχανε ~93% των αναρτήσεων· λύση, λεξικό εμπορικών ονομάτων. (5) ΑΡΑΙΩΣΗ ΣΥΝΑΙΣΘΗΜΑΤΟΣ: δεδομένα μόνο από 2024+· λύση, επιπλέον βάρος στις εγγραφές με συναίσθημα + δίκαιη αξιολόγηση στην περίοδο 2024+. (6) ΤΕΧΝΙΚΑ: σφάλματα κωδικοποίησης (λύση UTF-8) και εκπαίδευση σε CPU (το TensorFlow δεν κάνει GPU σε Windows). Το μήνυμα: προτίμησα το έντιμο αντί για το εντυπωσιακό.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Σε ένα σύστημα ΤΝ για τη χρηματοοικονομική, η ηθική διάσταση είναι κρίσιμη. Πρώτον, απόρρητο: χρησιμοποιώ μόνο δημόσια δεδομένα, κανένα προσωπικό. Δεύτερον, και πιο σημαντικό: το σύστημα ΔΕΝ αποτελεί επενδυτική συμβουλή — είναι ερευνητικό εργαλείο, με ρητή αποποίηση ευθύνης. Τρίτον, διαφάνεια μέσω SHAP. Τέταρτον, ρητή αναγνώριση των ορίων, χωρίς υπερβολές. Και πέμπτον, υπεύθυνη χρήση: το σύστημα υποστηρίζει, δεν αντικαθιστά, την ανθρώπινη κρίση.</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Ας απαντήσω ευθέως: τι κερδίσαμε σαν έργο; Ένα πλήρες, λειτουργικό σύστημα από άκρη σε άκρη· μια πρόβλεψη που είναι στατιστικά σημαντικά καλύτερη από την τύχη και την πλειοψηφία· τεκμηρίωση ότι το συναίσθημα βοηθά· και —ίσως το πιο πολύτιμο— μια έντιμη, αναπαραγώγιμη μεθοδολογία. Τι δεν πετύχαμε; Δεν κερδίζουμε σταθερά την αγορά, η ακρίβεια είναι μέτρια, τα learned weights δεν στάθηκαν με τα λίγα δεδομένα, και το backtest δεν έχει κόστη συναλλαγών. Το συμπέρασμα: η αξία δεν είναι ένα εντυπωσιακό νούμερο, αλλά ένα ειλικρινές και επεκτάσιμο σύστημα.</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Πλήρες σύστημα με μετρήσιμη, στατιστικά σημαντική ικανότητα και διαφανή όρια. Μελλοντικά: περισσότερο ιστορικό, learned weights, regimes, κόστη συναλλαγών.</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Ευχαριστώ τον επιβλέποντα και την επιτροπή. Είμαι στη διάθεσή σας για ερωτήσεις.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365760"/>
          </a:xfrm>
          <a:prstGeom prst="rect">
            <a:avLst/>
          </a:prstGeom>
          <a:noFill/>
        </p:spPr>
        <p:txBody>
          <a:bodyPr wrap="square" anchor="t" lIns="54864" rIns="54864" tIns="27432" bIns="27432">
            <a:spAutoFit/>
          </a:bodyPr>
          <a:lstStyle/>
          <a:p>
            <a:pPr algn="l">
              <a:spcAft>
                <a:spcPts val="400"/>
              </a:spcAft>
            </a:pPr>
            <a:r>
              <a:rPr sz="1300" b="1" i="0">
                <a:solidFill>
                  <a:srgbClr val="AFC6E6"/>
                </a:solidFill>
                <a:latin typeface="Calibri"/>
              </a:rPr>
              <a:t>ΠΑΝΕΠΙΣΤΗΜΙΟ ΠΕΛΟΠΟΝΝΗΣΟΥ · ΤΜΗΜΑ ΗΛΕΚΤΡΟΛΟΓΩΝ ΜΗΧΑΝΙΚΩΝ &amp; ΜΗΧΑΝΙΚΩΝ ΥΠΟΛΟΓΙΣΤΩΝ</a:t>
            </a:r>
          </a:p>
        </p:txBody>
      </p:sp>
      <p:sp>
        <p:nvSpPr>
          <p:cNvPr id="5" name="TextBox 4"/>
          <p:cNvSpPr txBox="1"/>
          <p:nvPr/>
        </p:nvSpPr>
        <p:spPr>
          <a:xfrm>
            <a:off x="822960" y="1737360"/>
            <a:ext cx="10515600" cy="2194560"/>
          </a:xfrm>
          <a:prstGeom prst="rect">
            <a:avLst/>
          </a:prstGeom>
          <a:noFill/>
        </p:spPr>
        <p:txBody>
          <a:bodyPr wrap="square" anchor="t" lIns="54864" rIns="54864" tIns="27432" bIns="27432">
            <a:spAutoFit/>
          </a:bodyPr>
          <a:lstStyle/>
          <a:p>
            <a:pPr algn="l">
              <a:spcAft>
                <a:spcPts val="200"/>
              </a:spcAft>
            </a:pPr>
            <a:r>
              <a:rPr sz="3600" b="1" i="0">
                <a:solidFill>
                  <a:srgbClr val="FFFFFF"/>
                </a:solidFill>
                <a:latin typeface="Calibri"/>
              </a:rPr>
              <a:t>Ευφυές Event-Driven Σύστημα Πρόβλεψης</a:t>
            </a:r>
          </a:p>
          <a:p>
            <a:pPr algn="l">
              <a:spcAft>
                <a:spcPts val="200"/>
              </a:spcAft>
            </a:pPr>
            <a:r>
              <a:rPr sz="3600" b="1" i="0">
                <a:solidFill>
                  <a:srgbClr val="FFFFFF"/>
                </a:solidFill>
                <a:latin typeface="Calibri"/>
              </a:rPr>
              <a:t>Χρηματιστηριακών Κινήσεων</a:t>
            </a:r>
          </a:p>
          <a:p>
            <a:pPr algn="l">
              <a:spcAft>
                <a:spcPts val="400"/>
              </a:spcAft>
            </a:pPr>
            <a:r>
              <a:rPr sz="2600" b="1" i="0">
                <a:solidFill>
                  <a:srgbClr val="7FD1C8"/>
                </a:solidFill>
                <a:latin typeface="Calibri"/>
              </a:rPr>
              <a:t>με Τεχνητή Νοημοσύνη &amp; Ανάλυση Συναισθήματος</a:t>
            </a:r>
          </a:p>
        </p:txBody>
      </p:sp>
      <p:sp>
        <p:nvSpPr>
          <p:cNvPr id="6" name="Rectangle 5"/>
          <p:cNvSpPr/>
          <p:nvPr/>
        </p:nvSpPr>
        <p:spPr>
          <a:xfrm>
            <a:off x="850392" y="3977639"/>
            <a:ext cx="2103120" cy="4572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206240"/>
            <a:ext cx="10058400" cy="1097280"/>
          </a:xfrm>
          <a:prstGeom prst="rect">
            <a:avLst/>
          </a:prstGeom>
          <a:noFill/>
        </p:spPr>
        <p:txBody>
          <a:bodyPr wrap="square" anchor="t" lIns="54864" rIns="54864" tIns="27432" bIns="27432">
            <a:spAutoFit/>
          </a:bodyPr>
          <a:lstStyle/>
          <a:p>
            <a:pPr algn="l">
              <a:spcAft>
                <a:spcPts val="200"/>
              </a:spcAft>
            </a:pPr>
            <a:r>
              <a:rPr sz="1900" b="1" i="0">
                <a:solidFill>
                  <a:srgbClr val="FFFFFF"/>
                </a:solidFill>
                <a:latin typeface="Calibri"/>
              </a:rPr>
              <a:t>Αλέξανδρος Λένης</a:t>
            </a:r>
          </a:p>
          <a:p>
            <a:pPr algn="l">
              <a:spcAft>
                <a:spcPts val="400"/>
              </a:spcAft>
            </a:pPr>
            <a:r>
              <a:rPr sz="1400" b="0" i="0">
                <a:solidFill>
                  <a:srgbClr val="C9D7EA"/>
                </a:solidFill>
                <a:latin typeface="Calibri"/>
              </a:rPr>
              <a:t>Α.Μ. 19092   ·   Επιβλέπων: Αναπλ. Καθηγητής Σωτήρης Χριστοδούλου</a:t>
            </a:r>
          </a:p>
          <a:p>
            <a:pPr algn="l">
              <a:spcAft>
                <a:spcPts val="400"/>
              </a:spcAft>
            </a:pPr>
            <a:r>
              <a:rPr sz="1300" b="0" i="0">
                <a:solidFill>
                  <a:srgbClr val="9FB4D4"/>
                </a:solidFill>
                <a:latin typeface="Calibri"/>
              </a:rPr>
              <a:t>Πάτρα, Ιούλιος 2026</a:t>
            </a:r>
          </a:p>
        </p:txBody>
      </p:sp>
      <p:sp>
        <p:nvSpPr>
          <p:cNvPr id="8" name="Rounded Rectangle 7"/>
          <p:cNvSpPr/>
          <p:nvPr/>
        </p:nvSpPr>
        <p:spPr>
          <a:xfrm>
            <a:off x="822960" y="5715000"/>
            <a:ext cx="182880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715000"/>
            <a:ext cx="182880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7 πηγές δεδομένων</a:t>
            </a:r>
          </a:p>
        </p:txBody>
      </p:sp>
      <p:sp>
        <p:nvSpPr>
          <p:cNvPr id="10" name="Rounded Rectangle 9"/>
          <p:cNvSpPr/>
          <p:nvPr/>
        </p:nvSpPr>
        <p:spPr>
          <a:xfrm>
            <a:off x="2880360" y="5715000"/>
            <a:ext cx="210312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5715000"/>
            <a:ext cx="210312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~31.250 έγγραφα</a:t>
            </a:r>
          </a:p>
        </p:txBody>
      </p:sp>
      <p:sp>
        <p:nvSpPr>
          <p:cNvPr id="12" name="Rounded Rectangle 11"/>
          <p:cNvSpPr/>
          <p:nvPr/>
        </p:nvSpPr>
        <p:spPr>
          <a:xfrm>
            <a:off x="5212079" y="5715000"/>
            <a:ext cx="173736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79" y="5715000"/>
            <a:ext cx="173736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5 μοντέλα ML</a:t>
            </a:r>
          </a:p>
        </p:txBody>
      </p:sp>
      <p:sp>
        <p:nvSpPr>
          <p:cNvPr id="14" name="Rounded Rectangle 13"/>
          <p:cNvSpPr/>
          <p:nvPr/>
        </p:nvSpPr>
        <p:spPr>
          <a:xfrm>
            <a:off x="7178040" y="5715000"/>
            <a:ext cx="201168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5715000"/>
            <a:ext cx="201168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28 χαρακτηριστικά</a:t>
            </a:r>
          </a:p>
        </p:txBody>
      </p:sp>
      <p:sp>
        <p:nvSpPr>
          <p:cNvPr id="16" name="Rounded Rectangle 15"/>
          <p:cNvSpPr/>
          <p:nvPr/>
        </p:nvSpPr>
        <p:spPr>
          <a:xfrm>
            <a:off x="9418320" y="5715000"/>
            <a:ext cx="1828800" cy="502920"/>
          </a:xfrm>
          <a:prstGeom prst="roundRect">
            <a:avLst/>
          </a:prstGeom>
          <a:solidFill>
            <a:srgbClr val="1E4070"/>
          </a:solidFill>
          <a:ln w="1270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5715000"/>
            <a:ext cx="1828800" cy="502920"/>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41.7% ακρίβεια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ROADMAP</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Δομή παρουσίασης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a:t>
            </a:r>
          </a:p>
        </p:txBody>
      </p:sp>
      <p:sp>
        <p:nvSpPr>
          <p:cNvPr id="9" name="Rounded Rectangle 8"/>
          <p:cNvSpPr/>
          <p:nvPr/>
        </p:nvSpPr>
        <p:spPr>
          <a:xfrm>
            <a:off x="685800" y="1737360"/>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737360"/>
            <a:ext cx="822960" cy="77724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737360"/>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01</a:t>
            </a:r>
          </a:p>
        </p:txBody>
      </p:sp>
      <p:sp>
        <p:nvSpPr>
          <p:cNvPr id="12" name="TextBox 11"/>
          <p:cNvSpPr txBox="1"/>
          <p:nvPr/>
        </p:nvSpPr>
        <p:spPr>
          <a:xfrm>
            <a:off x="1645920" y="1737360"/>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Εισαγωγή &amp; κίνητρο</a:t>
            </a:r>
          </a:p>
        </p:txBody>
      </p:sp>
      <p:sp>
        <p:nvSpPr>
          <p:cNvPr id="13" name="Rounded Rectangle 12"/>
          <p:cNvSpPr/>
          <p:nvPr/>
        </p:nvSpPr>
        <p:spPr>
          <a:xfrm>
            <a:off x="685800" y="2615184"/>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2615184"/>
            <a:ext cx="822960" cy="77724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15184"/>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02</a:t>
            </a:r>
          </a:p>
        </p:txBody>
      </p:sp>
      <p:sp>
        <p:nvSpPr>
          <p:cNvPr id="16" name="TextBox 15"/>
          <p:cNvSpPr txBox="1"/>
          <p:nvPr/>
        </p:nvSpPr>
        <p:spPr>
          <a:xfrm>
            <a:off x="1645920" y="2615184"/>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Αρχιτεκτονική &amp; τεχνολογίες</a:t>
            </a:r>
          </a:p>
        </p:txBody>
      </p:sp>
      <p:sp>
        <p:nvSpPr>
          <p:cNvPr id="17" name="Rounded Rectangle 16"/>
          <p:cNvSpPr/>
          <p:nvPr/>
        </p:nvSpPr>
        <p:spPr>
          <a:xfrm>
            <a:off x="685800" y="3493008"/>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493008"/>
            <a:ext cx="822960" cy="77724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93008"/>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03</a:t>
            </a:r>
          </a:p>
        </p:txBody>
      </p:sp>
      <p:sp>
        <p:nvSpPr>
          <p:cNvPr id="20" name="TextBox 19"/>
          <p:cNvSpPr txBox="1"/>
          <p:nvPr/>
        </p:nvSpPr>
        <p:spPr>
          <a:xfrm>
            <a:off x="1645920" y="3493008"/>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Δεδομένα &amp; ανάλυση συναισθήματος</a:t>
            </a:r>
          </a:p>
        </p:txBody>
      </p:sp>
      <p:sp>
        <p:nvSpPr>
          <p:cNvPr id="21" name="Rounded Rectangle 20"/>
          <p:cNvSpPr/>
          <p:nvPr/>
        </p:nvSpPr>
        <p:spPr>
          <a:xfrm>
            <a:off x="685800" y="4370831"/>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5800" y="4370831"/>
            <a:ext cx="822960"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370831"/>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04</a:t>
            </a:r>
          </a:p>
        </p:txBody>
      </p:sp>
      <p:sp>
        <p:nvSpPr>
          <p:cNvPr id="24" name="TextBox 23"/>
          <p:cNvSpPr txBox="1"/>
          <p:nvPr/>
        </p:nvSpPr>
        <p:spPr>
          <a:xfrm>
            <a:off x="1645920" y="4370831"/>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Μοντέλα &amp; μεθοδολογία</a:t>
            </a:r>
          </a:p>
        </p:txBody>
      </p:sp>
      <p:sp>
        <p:nvSpPr>
          <p:cNvPr id="25" name="Rounded Rectangle 24"/>
          <p:cNvSpPr/>
          <p:nvPr/>
        </p:nvSpPr>
        <p:spPr>
          <a:xfrm>
            <a:off x="685800" y="5248656"/>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5248656"/>
            <a:ext cx="822960" cy="77724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248656"/>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05</a:t>
            </a:r>
          </a:p>
        </p:txBody>
      </p:sp>
      <p:sp>
        <p:nvSpPr>
          <p:cNvPr id="28" name="TextBox 27"/>
          <p:cNvSpPr txBox="1"/>
          <p:nvPr/>
        </p:nvSpPr>
        <p:spPr>
          <a:xfrm>
            <a:off x="1645920" y="5248656"/>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Η εφαρμογή (demo)</a:t>
            </a:r>
          </a:p>
        </p:txBody>
      </p:sp>
      <p:sp>
        <p:nvSpPr>
          <p:cNvPr id="29" name="Rounded Rectangle 28"/>
          <p:cNvSpPr/>
          <p:nvPr/>
        </p:nvSpPr>
        <p:spPr>
          <a:xfrm>
            <a:off x="6263640" y="1737360"/>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1737360"/>
            <a:ext cx="822960" cy="77724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737360"/>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06</a:t>
            </a:r>
          </a:p>
        </p:txBody>
      </p:sp>
      <p:sp>
        <p:nvSpPr>
          <p:cNvPr id="32" name="TextBox 31"/>
          <p:cNvSpPr txBox="1"/>
          <p:nvPr/>
        </p:nvSpPr>
        <p:spPr>
          <a:xfrm>
            <a:off x="7223759" y="1737360"/>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Αξιολόγηση &amp; αποτελέσματα</a:t>
            </a:r>
          </a:p>
        </p:txBody>
      </p:sp>
      <p:sp>
        <p:nvSpPr>
          <p:cNvPr id="33" name="Rounded Rectangle 32"/>
          <p:cNvSpPr/>
          <p:nvPr/>
        </p:nvSpPr>
        <p:spPr>
          <a:xfrm>
            <a:off x="6263640" y="2615184"/>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63640" y="2615184"/>
            <a:ext cx="822960" cy="77724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63640" y="2615184"/>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07</a:t>
            </a:r>
          </a:p>
        </p:txBody>
      </p:sp>
      <p:sp>
        <p:nvSpPr>
          <p:cNvPr id="36" name="TextBox 35"/>
          <p:cNvSpPr txBox="1"/>
          <p:nvPr/>
        </p:nvSpPr>
        <p:spPr>
          <a:xfrm>
            <a:off x="7223759" y="2615184"/>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Ερευνητική μελέτη στάθμισης</a:t>
            </a:r>
          </a:p>
        </p:txBody>
      </p:sp>
      <p:sp>
        <p:nvSpPr>
          <p:cNvPr id="37" name="Rounded Rectangle 36"/>
          <p:cNvSpPr/>
          <p:nvPr/>
        </p:nvSpPr>
        <p:spPr>
          <a:xfrm>
            <a:off x="6263640" y="3493008"/>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63640" y="3493008"/>
            <a:ext cx="822960" cy="77724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63640" y="3493008"/>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08</a:t>
            </a:r>
          </a:p>
        </p:txBody>
      </p:sp>
      <p:sp>
        <p:nvSpPr>
          <p:cNvPr id="40" name="TextBox 39"/>
          <p:cNvSpPr txBox="1"/>
          <p:nvPr/>
        </p:nvSpPr>
        <p:spPr>
          <a:xfrm>
            <a:off x="7223759" y="3493008"/>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Προβλήματα &amp; λύσεις</a:t>
            </a:r>
          </a:p>
        </p:txBody>
      </p:sp>
      <p:sp>
        <p:nvSpPr>
          <p:cNvPr id="41" name="Rounded Rectangle 40"/>
          <p:cNvSpPr/>
          <p:nvPr/>
        </p:nvSpPr>
        <p:spPr>
          <a:xfrm>
            <a:off x="6263640" y="4370831"/>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4370831"/>
            <a:ext cx="822960"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63640" y="4370831"/>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09</a:t>
            </a:r>
          </a:p>
        </p:txBody>
      </p:sp>
      <p:sp>
        <p:nvSpPr>
          <p:cNvPr id="44" name="TextBox 43"/>
          <p:cNvSpPr txBox="1"/>
          <p:nvPr/>
        </p:nvSpPr>
        <p:spPr>
          <a:xfrm>
            <a:off x="7223759" y="4370831"/>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Ασφάλεια &amp; ηθική ΤΝ</a:t>
            </a:r>
          </a:p>
        </p:txBody>
      </p:sp>
      <p:sp>
        <p:nvSpPr>
          <p:cNvPr id="45" name="Rounded Rectangle 44"/>
          <p:cNvSpPr/>
          <p:nvPr/>
        </p:nvSpPr>
        <p:spPr>
          <a:xfrm>
            <a:off x="6263640" y="5248656"/>
            <a:ext cx="5212080" cy="7772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63640" y="5248656"/>
            <a:ext cx="822960" cy="77724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63640" y="5248656"/>
            <a:ext cx="822960" cy="777240"/>
          </a:xfrm>
          <a:prstGeom prst="rect">
            <a:avLst/>
          </a:prstGeom>
          <a:noFill/>
        </p:spPr>
        <p:txBody>
          <a:bodyPr wrap="square" anchor="ctr" lIns="54864" rIns="54864" tIns="27432" bIns="27432">
            <a:spAutoFit/>
          </a:bodyPr>
          <a:lstStyle/>
          <a:p>
            <a:pPr algn="ctr">
              <a:spcAft>
                <a:spcPts val="400"/>
              </a:spcAft>
            </a:pPr>
            <a:r>
              <a:rPr sz="2200" b="1" i="0">
                <a:solidFill>
                  <a:srgbClr val="FFFFFF"/>
                </a:solidFill>
                <a:latin typeface="Calibri"/>
              </a:rPr>
              <a:t>10</a:t>
            </a:r>
          </a:p>
        </p:txBody>
      </p:sp>
      <p:sp>
        <p:nvSpPr>
          <p:cNvPr id="48" name="TextBox 47"/>
          <p:cNvSpPr txBox="1"/>
          <p:nvPr/>
        </p:nvSpPr>
        <p:spPr>
          <a:xfrm>
            <a:off x="7223759" y="5248656"/>
            <a:ext cx="4114800" cy="777240"/>
          </a:xfrm>
          <a:prstGeom prst="rect">
            <a:avLst/>
          </a:prstGeom>
          <a:noFill/>
        </p:spPr>
        <p:txBody>
          <a:bodyPr wrap="square" anchor="ctr" lIns="54864" rIns="54864" tIns="27432" bIns="27432">
            <a:spAutoFit/>
          </a:bodyPr>
          <a:lstStyle/>
          <a:p>
            <a:pPr algn="l">
              <a:spcAft>
                <a:spcPts val="400"/>
              </a:spcAft>
            </a:pPr>
            <a:r>
              <a:rPr sz="1550" b="1" i="0">
                <a:solidFill>
                  <a:srgbClr val="142E54"/>
                </a:solidFill>
                <a:latin typeface="Calibri"/>
              </a:rPr>
              <a:t>Συμπεράσματα &amp; προοπτικές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ΕΠΙΣΚΌΠΗΣΗ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Τι κάνει το σύστημα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a:t>
            </a:r>
          </a:p>
        </p:txBody>
      </p:sp>
      <p:sp>
        <p:nvSpPr>
          <p:cNvPr id="9" name="TextBox 8"/>
          <p:cNvSpPr txBox="1"/>
          <p:nvPr/>
        </p:nvSpPr>
        <p:spPr>
          <a:xfrm>
            <a:off x="548640" y="1508760"/>
            <a:ext cx="11064240" cy="640080"/>
          </a:xfrm>
          <a:prstGeom prst="rect">
            <a:avLst/>
          </a:prstGeom>
          <a:noFill/>
        </p:spPr>
        <p:txBody>
          <a:bodyPr wrap="square" anchor="t" lIns="54864" rIns="54864" tIns="27432" bIns="27432">
            <a:spAutoFit/>
          </a:bodyPr>
          <a:lstStyle/>
          <a:p>
            <a:pPr algn="l">
              <a:spcAft>
                <a:spcPts val="400"/>
              </a:spcAft>
            </a:pPr>
            <a:r>
              <a:rPr sz="1600" b="0" i="0">
                <a:solidFill>
                  <a:srgbClr val="5A6370"/>
                </a:solidFill>
                <a:latin typeface="Calibri"/>
              </a:rPr>
              <a:t>Ένα ολοκληρωμένο, αυτοματοποιημένο σύστημα που μετατρέπει ειδήσεις + τιμές σε σήμα Buy / Sell / Hold, με ανάλυση κινδύνου και ερμηνευσιμότητα.</a:t>
            </a:r>
          </a:p>
        </p:txBody>
      </p:sp>
      <p:sp>
        <p:nvSpPr>
          <p:cNvPr id="10" name="Rounded Rectangle 9"/>
          <p:cNvSpPr/>
          <p:nvPr/>
        </p:nvSpPr>
        <p:spPr>
          <a:xfrm>
            <a:off x="502920" y="2468880"/>
            <a:ext cx="1298448" cy="1371600"/>
          </a:xfrm>
          <a:prstGeom prst="roundRect">
            <a:avLst/>
          </a:prstGeom>
          <a:solidFill>
            <a:srgbClr val="F5F8FC"/>
          </a:solidFill>
          <a:ln w="19050">
            <a:solidFill>
              <a:srgbClr val="2E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468880"/>
            <a:ext cx="1298448" cy="38404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7 Πηγές</a:t>
            </a:r>
          </a:p>
        </p:txBody>
      </p:sp>
      <p:sp>
        <p:nvSpPr>
          <p:cNvPr id="13" name="TextBox 12"/>
          <p:cNvSpPr txBox="1"/>
          <p:nvPr/>
        </p:nvSpPr>
        <p:spPr>
          <a:xfrm>
            <a:off x="54864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Yahoo, CNBC,
Reddit…</a:t>
            </a:r>
          </a:p>
        </p:txBody>
      </p:sp>
      <p:sp>
        <p:nvSpPr>
          <p:cNvPr id="14" name="TextBox 13"/>
          <p:cNvSpPr txBox="1"/>
          <p:nvPr/>
        </p:nvSpPr>
        <p:spPr>
          <a:xfrm>
            <a:off x="178308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6FB7"/>
                </a:solidFill>
                <a:latin typeface="Calibri"/>
              </a:rPr>
              <a:t>›</a:t>
            </a:r>
          </a:p>
        </p:txBody>
      </p:sp>
      <p:sp>
        <p:nvSpPr>
          <p:cNvPr id="15" name="Rounded Rectangle 14"/>
          <p:cNvSpPr/>
          <p:nvPr/>
        </p:nvSpPr>
        <p:spPr>
          <a:xfrm>
            <a:off x="1920239" y="2468880"/>
            <a:ext cx="1298448" cy="1371600"/>
          </a:xfrm>
          <a:prstGeom prst="roundRect">
            <a:avLst/>
          </a:prstGeom>
          <a:solidFill>
            <a:srgbClr val="F5F8FC"/>
          </a:solidFill>
          <a:ln w="19050">
            <a:solidFill>
              <a:srgbClr val="2E6FB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920239" y="2468880"/>
            <a:ext cx="1298448" cy="38404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3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Scrapers</a:t>
            </a:r>
          </a:p>
        </p:txBody>
      </p:sp>
      <p:sp>
        <p:nvSpPr>
          <p:cNvPr id="18" name="TextBox 17"/>
          <p:cNvSpPr txBox="1"/>
          <p:nvPr/>
        </p:nvSpPr>
        <p:spPr>
          <a:xfrm>
            <a:off x="196595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event-driven
polling</a:t>
            </a:r>
          </a:p>
        </p:txBody>
      </p:sp>
      <p:sp>
        <p:nvSpPr>
          <p:cNvPr id="19" name="TextBox 18"/>
          <p:cNvSpPr txBox="1"/>
          <p:nvPr/>
        </p:nvSpPr>
        <p:spPr>
          <a:xfrm>
            <a:off x="320039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6FB7"/>
                </a:solidFill>
                <a:latin typeface="Calibri"/>
              </a:rPr>
              <a:t>›</a:t>
            </a:r>
          </a:p>
        </p:txBody>
      </p:sp>
      <p:sp>
        <p:nvSpPr>
          <p:cNvPr id="20" name="Rounded Rectangle 19"/>
          <p:cNvSpPr/>
          <p:nvPr/>
        </p:nvSpPr>
        <p:spPr>
          <a:xfrm>
            <a:off x="3337559" y="2468880"/>
            <a:ext cx="1298448" cy="1371600"/>
          </a:xfrm>
          <a:prstGeom prst="roundRect">
            <a:avLst/>
          </a:prstGeom>
          <a:solidFill>
            <a:srgbClr val="F5F8FC"/>
          </a:solidFill>
          <a:ln w="1905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37559" y="2468880"/>
            <a:ext cx="1298448" cy="3840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3755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MongoDB</a:t>
            </a:r>
          </a:p>
        </p:txBody>
      </p:sp>
      <p:sp>
        <p:nvSpPr>
          <p:cNvPr id="23" name="TextBox 22"/>
          <p:cNvSpPr txBox="1"/>
          <p:nvPr/>
        </p:nvSpPr>
        <p:spPr>
          <a:xfrm>
            <a:off x="338327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αποθήκευση</a:t>
            </a:r>
          </a:p>
        </p:txBody>
      </p:sp>
      <p:sp>
        <p:nvSpPr>
          <p:cNvPr id="24" name="TextBox 23"/>
          <p:cNvSpPr txBox="1"/>
          <p:nvPr/>
        </p:nvSpPr>
        <p:spPr>
          <a:xfrm>
            <a:off x="461772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148F88"/>
                </a:solidFill>
                <a:latin typeface="Calibri"/>
              </a:rPr>
              <a:t>›</a:t>
            </a:r>
          </a:p>
        </p:txBody>
      </p:sp>
      <p:sp>
        <p:nvSpPr>
          <p:cNvPr id="25" name="Rounded Rectangle 24"/>
          <p:cNvSpPr/>
          <p:nvPr/>
        </p:nvSpPr>
        <p:spPr>
          <a:xfrm>
            <a:off x="4754879" y="2468880"/>
            <a:ext cx="1298448" cy="1371600"/>
          </a:xfrm>
          <a:prstGeom prst="roundRect">
            <a:avLst/>
          </a:prstGeom>
          <a:solidFill>
            <a:srgbClr val="F5F8FC"/>
          </a:solidFill>
          <a:ln w="19050">
            <a:solidFill>
              <a:srgbClr val="148F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54879" y="2468880"/>
            <a:ext cx="1298448" cy="3840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7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FinBERT</a:t>
            </a:r>
          </a:p>
        </p:txBody>
      </p:sp>
      <p:sp>
        <p:nvSpPr>
          <p:cNvPr id="28" name="TextBox 27"/>
          <p:cNvSpPr txBox="1"/>
          <p:nvPr/>
        </p:nvSpPr>
        <p:spPr>
          <a:xfrm>
            <a:off x="480059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συναίσθημα
(σταθμισμένο)</a:t>
            </a:r>
          </a:p>
        </p:txBody>
      </p:sp>
      <p:sp>
        <p:nvSpPr>
          <p:cNvPr id="29" name="TextBox 28"/>
          <p:cNvSpPr txBox="1"/>
          <p:nvPr/>
        </p:nvSpPr>
        <p:spPr>
          <a:xfrm>
            <a:off x="603504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148F88"/>
                </a:solidFill>
                <a:latin typeface="Calibri"/>
              </a:rPr>
              <a:t>›</a:t>
            </a:r>
          </a:p>
        </p:txBody>
      </p:sp>
      <p:sp>
        <p:nvSpPr>
          <p:cNvPr id="30" name="Rounded Rectangle 29"/>
          <p:cNvSpPr/>
          <p:nvPr/>
        </p:nvSpPr>
        <p:spPr>
          <a:xfrm>
            <a:off x="6172199" y="2468880"/>
            <a:ext cx="1298448" cy="1371600"/>
          </a:xfrm>
          <a:prstGeom prst="roundRect">
            <a:avLst/>
          </a:prstGeom>
          <a:solidFill>
            <a:srgbClr val="F5F8FC"/>
          </a:solidFill>
          <a:ln w="19050">
            <a:solidFill>
              <a:srgbClr val="C88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199" y="2468880"/>
            <a:ext cx="1298448" cy="384048"/>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219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28 Features</a:t>
            </a:r>
          </a:p>
        </p:txBody>
      </p:sp>
      <p:sp>
        <p:nvSpPr>
          <p:cNvPr id="33" name="TextBox 32"/>
          <p:cNvSpPr txBox="1"/>
          <p:nvPr/>
        </p:nvSpPr>
        <p:spPr>
          <a:xfrm>
            <a:off x="621791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τιμές +
συναίσθημα</a:t>
            </a:r>
          </a:p>
        </p:txBody>
      </p:sp>
      <p:sp>
        <p:nvSpPr>
          <p:cNvPr id="34" name="TextBox 33"/>
          <p:cNvSpPr txBox="1"/>
          <p:nvPr/>
        </p:nvSpPr>
        <p:spPr>
          <a:xfrm>
            <a:off x="745235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C8861E"/>
                </a:solidFill>
                <a:latin typeface="Calibri"/>
              </a:rPr>
              <a:t>›</a:t>
            </a:r>
          </a:p>
        </p:txBody>
      </p:sp>
      <p:sp>
        <p:nvSpPr>
          <p:cNvPr id="35" name="Rounded Rectangle 34"/>
          <p:cNvSpPr/>
          <p:nvPr/>
        </p:nvSpPr>
        <p:spPr>
          <a:xfrm>
            <a:off x="7589519" y="2468880"/>
            <a:ext cx="1298448" cy="1371600"/>
          </a:xfrm>
          <a:prstGeom prst="roundRect">
            <a:avLst/>
          </a:prstGeom>
          <a:solidFill>
            <a:srgbClr val="F5F8FC"/>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589519" y="2468880"/>
            <a:ext cx="1298448" cy="3840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1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5 Μοντέλα</a:t>
            </a:r>
          </a:p>
        </p:txBody>
      </p:sp>
      <p:sp>
        <p:nvSpPr>
          <p:cNvPr id="38" name="TextBox 37"/>
          <p:cNvSpPr txBox="1"/>
          <p:nvPr/>
        </p:nvSpPr>
        <p:spPr>
          <a:xfrm>
            <a:off x="763524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RF·XGB·LGBM
Logistic·LSTM</a:t>
            </a:r>
          </a:p>
        </p:txBody>
      </p:sp>
      <p:sp>
        <p:nvSpPr>
          <p:cNvPr id="39" name="TextBox 38"/>
          <p:cNvSpPr txBox="1"/>
          <p:nvPr/>
        </p:nvSpPr>
        <p:spPr>
          <a:xfrm>
            <a:off x="8869680"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7D32"/>
                </a:solidFill>
                <a:latin typeface="Calibri"/>
              </a:rPr>
              <a:t>›</a:t>
            </a:r>
          </a:p>
        </p:txBody>
      </p:sp>
      <p:sp>
        <p:nvSpPr>
          <p:cNvPr id="40" name="Rounded Rectangle 39"/>
          <p:cNvSpPr/>
          <p:nvPr/>
        </p:nvSpPr>
        <p:spPr>
          <a:xfrm>
            <a:off x="9006839" y="2468880"/>
            <a:ext cx="1298448" cy="1371600"/>
          </a:xfrm>
          <a:prstGeom prst="roundRect">
            <a:avLst/>
          </a:prstGeom>
          <a:solidFill>
            <a:srgbClr val="F5F8FC"/>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06839" y="2468880"/>
            <a:ext cx="1298448" cy="3840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0683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Ensemble</a:t>
            </a:r>
          </a:p>
        </p:txBody>
      </p:sp>
      <p:sp>
        <p:nvSpPr>
          <p:cNvPr id="43" name="TextBox 42"/>
          <p:cNvSpPr txBox="1"/>
          <p:nvPr/>
        </p:nvSpPr>
        <p:spPr>
          <a:xfrm>
            <a:off x="9052559"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Buy/Sell/Hold
+ κίνδυνος</a:t>
            </a:r>
          </a:p>
        </p:txBody>
      </p:sp>
      <p:sp>
        <p:nvSpPr>
          <p:cNvPr id="44" name="TextBox 43"/>
          <p:cNvSpPr txBox="1"/>
          <p:nvPr/>
        </p:nvSpPr>
        <p:spPr>
          <a:xfrm>
            <a:off x="10286999" y="2788920"/>
            <a:ext cx="256032" cy="731520"/>
          </a:xfrm>
          <a:prstGeom prst="rect">
            <a:avLst/>
          </a:prstGeom>
          <a:noFill/>
        </p:spPr>
        <p:txBody>
          <a:bodyPr wrap="square" anchor="ctr" lIns="54864" rIns="54864" tIns="27432" bIns="27432">
            <a:spAutoFit/>
          </a:bodyPr>
          <a:lstStyle/>
          <a:p>
            <a:pPr algn="ctr">
              <a:spcAft>
                <a:spcPts val="400"/>
              </a:spcAft>
            </a:pPr>
            <a:r>
              <a:rPr sz="2600" b="1" i="0">
                <a:solidFill>
                  <a:srgbClr val="2E7D32"/>
                </a:solidFill>
                <a:latin typeface="Calibri"/>
              </a:rPr>
              <a:t>›</a:t>
            </a:r>
          </a:p>
        </p:txBody>
      </p:sp>
      <p:sp>
        <p:nvSpPr>
          <p:cNvPr id="45" name="Rounded Rectangle 44"/>
          <p:cNvSpPr/>
          <p:nvPr/>
        </p:nvSpPr>
        <p:spPr>
          <a:xfrm>
            <a:off x="10424159" y="2468880"/>
            <a:ext cx="1298448" cy="1371600"/>
          </a:xfrm>
          <a:prstGeom prst="roundRect">
            <a:avLst/>
          </a:prstGeom>
          <a:solidFill>
            <a:srgbClr val="F5F8FC"/>
          </a:solidFill>
          <a:ln w="19050">
            <a:solidFill>
              <a:srgbClr val="142E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0424159" y="2468880"/>
            <a:ext cx="1298448" cy="384048"/>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424159" y="2468880"/>
            <a:ext cx="1298448" cy="384048"/>
          </a:xfrm>
          <a:prstGeom prst="rect">
            <a:avLst/>
          </a:prstGeom>
          <a:noFill/>
        </p:spPr>
        <p:txBody>
          <a:bodyPr wrap="square" anchor="ctr" lIns="54864" rIns="54864" tIns="27432" bIns="27432">
            <a:spAutoFit/>
          </a:bodyPr>
          <a:lstStyle/>
          <a:p>
            <a:pPr algn="ctr">
              <a:spcAft>
                <a:spcPts val="400"/>
              </a:spcAft>
            </a:pPr>
            <a:r>
              <a:rPr sz="1250" b="1" i="0">
                <a:solidFill>
                  <a:srgbClr val="FFFFFF"/>
                </a:solidFill>
                <a:latin typeface="Calibri"/>
              </a:rPr>
              <a:t>Dashboard</a:t>
            </a:r>
          </a:p>
        </p:txBody>
      </p:sp>
      <p:sp>
        <p:nvSpPr>
          <p:cNvPr id="48" name="TextBox 47"/>
          <p:cNvSpPr txBox="1"/>
          <p:nvPr/>
        </p:nvSpPr>
        <p:spPr>
          <a:xfrm>
            <a:off x="10469880" y="2926080"/>
            <a:ext cx="1207007" cy="822960"/>
          </a:xfrm>
          <a:prstGeom prst="rect">
            <a:avLst/>
          </a:prstGeom>
          <a:noFill/>
        </p:spPr>
        <p:txBody>
          <a:bodyPr wrap="square" anchor="t" lIns="54864" rIns="54864" tIns="27432" bIns="27432">
            <a:spAutoFit/>
          </a:bodyPr>
          <a:lstStyle/>
          <a:p>
            <a:pPr algn="ctr">
              <a:spcAft>
                <a:spcPts val="400"/>
              </a:spcAft>
            </a:pPr>
            <a:r>
              <a:rPr sz="1050" b="0" i="0">
                <a:solidFill>
                  <a:srgbClr val="5A6370"/>
                </a:solidFill>
                <a:latin typeface="Calibri"/>
              </a:rPr>
              <a:t>React UI</a:t>
            </a:r>
          </a:p>
        </p:txBody>
      </p:sp>
      <p:sp>
        <p:nvSpPr>
          <p:cNvPr id="49" name="TextBox 48"/>
          <p:cNvSpPr txBox="1"/>
          <p:nvPr/>
        </p:nvSpPr>
        <p:spPr>
          <a:xfrm>
            <a:off x="548640" y="4160520"/>
            <a:ext cx="11064240" cy="1463040"/>
          </a:xfrm>
          <a:prstGeom prst="rect">
            <a:avLst/>
          </a:prstGeom>
          <a:noFill/>
        </p:spPr>
        <p:txBody>
          <a:bodyPr wrap="square" anchor="t" lIns="54864" rIns="54864" tIns="27432" bIns="27432">
            <a:spAutoFit/>
          </a:bodyPr>
          <a:lstStyle/>
          <a:p>
            <a:pPr algn="l">
              <a:spcAft>
                <a:spcPts val="400"/>
              </a:spcAft>
            </a:pPr>
            <a:r>
              <a:rPr sz="1600" b="1" i="0">
                <a:solidFill>
                  <a:srgbClr val="142E54"/>
                </a:solidFill>
                <a:latin typeface="Calibri"/>
              </a:rPr>
              <a:t>Καρδιά της καινοτομίας:</a:t>
            </a:r>
          </a:p>
        </p:txBody>
      </p:sp>
      <p:sp>
        <p:nvSpPr>
          <p:cNvPr id="50" name="TextBox 49"/>
          <p:cNvSpPr txBox="1"/>
          <p:nvPr/>
        </p:nvSpPr>
        <p:spPr>
          <a:xfrm>
            <a:off x="640080" y="4572000"/>
            <a:ext cx="10881360" cy="1463040"/>
          </a:xfrm>
          <a:prstGeom prst="rect">
            <a:avLst/>
          </a:prstGeom>
          <a:noFill/>
        </p:spPr>
        <p:txBody>
          <a:bodyPr wrap="square">
            <a:spAutoFit/>
          </a:bodyPr>
          <a:lstStyle/>
          <a:p>
            <a:pPr>
              <a:spcAft>
                <a:spcPts val="800"/>
              </a:spcAft>
            </a:pPr>
            <a:r>
              <a:rPr sz="1600" b="1" i="0">
                <a:solidFill>
                  <a:srgbClr val="148F88"/>
                </a:solidFill>
                <a:latin typeface="Calibri"/>
              </a:rPr>
              <a:t>▸ </a:t>
            </a:r>
            <a:r>
              <a:rPr sz="1600" b="1" i="0">
                <a:solidFill>
                  <a:srgbClr val="202733"/>
                </a:solidFill>
                <a:latin typeface="Calibri"/>
              </a:rPr>
              <a:t>Σταθμισμένο συναίσθημα — </a:t>
            </a:r>
            <a:r>
              <a:rPr sz="1600" b="0" i="0">
                <a:solidFill>
                  <a:srgbClr val="202733"/>
                </a:solidFill>
                <a:latin typeface="Calibri"/>
              </a:rPr>
              <a:t>οι αξιόπιστες πηγές μετρούν περισσότερο</a:t>
            </a:r>
          </a:p>
          <a:p>
            <a:pPr>
              <a:spcAft>
                <a:spcPts val="800"/>
              </a:spcAft>
            </a:pPr>
            <a:r>
              <a:rPr sz="1600" b="1" i="0">
                <a:solidFill>
                  <a:srgbClr val="148F88"/>
                </a:solidFill>
                <a:latin typeface="Calibri"/>
              </a:rPr>
              <a:t>▸ </a:t>
            </a:r>
            <a:r>
              <a:rPr sz="1600" b="1" i="0">
                <a:solidFill>
                  <a:srgbClr val="202733"/>
                </a:solidFill>
                <a:latin typeface="Calibri"/>
              </a:rPr>
              <a:t>Αυστηρή, έντιμη μεθοδολογία — </a:t>
            </a:r>
            <a:r>
              <a:rPr sz="1600" b="0" i="0">
                <a:solidFill>
                  <a:srgbClr val="202733"/>
                </a:solidFill>
                <a:latin typeface="Calibri"/>
              </a:rPr>
              <a:t>χρονικός διαχωρισμός χωρίς διαρροή πληροφορίας</a:t>
            </a:r>
          </a:p>
          <a:p>
            <a:pPr>
              <a:spcAft>
                <a:spcPts val="800"/>
              </a:spcAft>
            </a:pPr>
            <a:r>
              <a:rPr sz="1600" b="1" i="0">
                <a:solidFill>
                  <a:srgbClr val="148F88"/>
                </a:solidFill>
                <a:latin typeface="Calibri"/>
              </a:rPr>
              <a:t>▸ </a:t>
            </a:r>
            <a:r>
              <a:rPr sz="1600" b="1" i="0">
                <a:solidFill>
                  <a:srgbClr val="202733"/>
                </a:solidFill>
                <a:latin typeface="Calibri"/>
              </a:rPr>
              <a:t>Πλήρης διαφάνεια — </a:t>
            </a:r>
            <a:r>
              <a:rPr sz="1600" b="0" i="0">
                <a:solidFill>
                  <a:srgbClr val="202733"/>
                </a:solidFill>
                <a:latin typeface="Calibri"/>
              </a:rPr>
              <a:t>κάθε πρόβλεψη εξηγείται (SHAP) + ποσοτικοποίηση κινδύνου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ΕΙΣΑΓΩΓΉ</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Το πρόβλημα &amp; το κίνητρο</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3</a:t>
            </a:r>
          </a:p>
        </p:txBody>
      </p:sp>
      <p:sp>
        <p:nvSpPr>
          <p:cNvPr id="9" name="Rounded Rectangle 8"/>
          <p:cNvSpPr/>
          <p:nvPr/>
        </p:nvSpPr>
        <p:spPr>
          <a:xfrm>
            <a:off x="548640" y="1554480"/>
            <a:ext cx="5394960" cy="4480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37360"/>
            <a:ext cx="4937760" cy="457200"/>
          </a:xfrm>
          <a:prstGeom prst="rect">
            <a:avLst/>
          </a:prstGeom>
          <a:noFill/>
        </p:spPr>
        <p:txBody>
          <a:bodyPr wrap="square" anchor="t" lIns="54864" rIns="54864" tIns="27432" bIns="27432">
            <a:spAutoFit/>
          </a:bodyPr>
          <a:lstStyle/>
          <a:p>
            <a:pPr algn="l">
              <a:spcAft>
                <a:spcPts val="400"/>
              </a:spcAft>
            </a:pPr>
            <a:r>
              <a:rPr sz="1800" b="1" i="0">
                <a:solidFill>
                  <a:srgbClr val="142E54"/>
                </a:solidFill>
                <a:latin typeface="Calibri"/>
              </a:rPr>
              <a:t>Η πρόκληση</a:t>
            </a:r>
          </a:p>
        </p:txBody>
      </p:sp>
      <p:sp>
        <p:nvSpPr>
          <p:cNvPr id="11" name="TextBox 10"/>
          <p:cNvSpPr txBox="1"/>
          <p:nvPr/>
        </p:nvSpPr>
        <p:spPr>
          <a:xfrm>
            <a:off x="777240" y="2286000"/>
            <a:ext cx="4937760" cy="3657600"/>
          </a:xfrm>
          <a:prstGeom prst="rect">
            <a:avLst/>
          </a:prstGeom>
          <a:noFill/>
        </p:spPr>
        <p:txBody>
          <a:bodyPr wrap="square">
            <a:spAutoFit/>
          </a:bodyPr>
          <a:lstStyle/>
          <a:p>
            <a:pPr>
              <a:spcAft>
                <a:spcPts val="800"/>
              </a:spcAft>
            </a:pPr>
            <a:r>
              <a:rPr sz="1550" b="1" i="0">
                <a:solidFill>
                  <a:srgbClr val="148F88"/>
                </a:solidFill>
                <a:latin typeface="Calibri"/>
              </a:rPr>
              <a:t>▸ </a:t>
            </a:r>
            <a:r>
              <a:rPr sz="1550" b="0" i="0">
                <a:solidFill>
                  <a:srgbClr val="202733"/>
                </a:solidFill>
                <a:latin typeface="Calibri"/>
              </a:rPr>
              <a:t>Βραχυπρόθεσμη πρόβλεψη κατεύθυνσης = εξαιρετικά δύσκολη</a:t>
            </a:r>
          </a:p>
          <a:p>
            <a:pPr>
              <a:spcAft>
                <a:spcPts val="800"/>
              </a:spcAft>
            </a:pPr>
            <a:r>
              <a:rPr sz="1550" b="1" i="0">
                <a:solidFill>
                  <a:srgbClr val="148F88"/>
                </a:solidFill>
                <a:latin typeface="Calibri"/>
              </a:rPr>
              <a:t>▸ </a:t>
            </a:r>
            <a:r>
              <a:rPr sz="1550" b="0" i="0">
                <a:solidFill>
                  <a:srgbClr val="202733"/>
                </a:solidFill>
                <a:latin typeface="Calibri"/>
              </a:rPr>
              <a:t>Υπόθεση Αποτελεσματικής Αγοράς: οι τιμές ενσωματώνουν την πληροφορία</a:t>
            </a:r>
          </a:p>
          <a:p>
            <a:pPr>
              <a:spcAft>
                <a:spcPts val="800"/>
              </a:spcAft>
            </a:pPr>
            <a:r>
              <a:rPr sz="1550" b="1" i="0">
                <a:solidFill>
                  <a:srgbClr val="148F88"/>
                </a:solidFill>
                <a:latin typeface="Calibri"/>
              </a:rPr>
              <a:t>▸ </a:t>
            </a:r>
            <a:r>
              <a:rPr sz="1550" b="0" i="0">
                <a:solidFill>
                  <a:srgbClr val="202733"/>
                </a:solidFill>
                <a:latin typeface="Calibri"/>
              </a:rPr>
              <a:t>Όμως το συναίσθημα των επενδυτών ΟΝΤΩΣ κινεί τις αγορές</a:t>
            </a:r>
          </a:p>
          <a:p>
            <a:pPr>
              <a:spcAft>
                <a:spcPts val="800"/>
              </a:spcAft>
            </a:pPr>
            <a:r>
              <a:rPr sz="1550" b="1" i="0">
                <a:solidFill>
                  <a:srgbClr val="148F88"/>
                </a:solidFill>
                <a:latin typeface="Calibri"/>
              </a:rPr>
              <a:t>▸ </a:t>
            </a:r>
            <a:r>
              <a:rPr sz="1550" b="0" i="0">
                <a:solidFill>
                  <a:srgbClr val="202733"/>
                </a:solidFill>
                <a:latin typeface="Calibri"/>
              </a:rPr>
              <a:t>Οι περισσότερες λύσεις: ή μόνο τιμές ή μόνο κείμενο</a:t>
            </a:r>
          </a:p>
        </p:txBody>
      </p:sp>
      <p:sp>
        <p:nvSpPr>
          <p:cNvPr id="12" name="Rounded Rectangle 11"/>
          <p:cNvSpPr/>
          <p:nvPr/>
        </p:nvSpPr>
        <p:spPr>
          <a:xfrm>
            <a:off x="6217920" y="1554480"/>
            <a:ext cx="5394960" cy="448056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37360"/>
            <a:ext cx="4937760" cy="457200"/>
          </a:xfrm>
          <a:prstGeom prst="rect">
            <a:avLst/>
          </a:prstGeom>
          <a:noFill/>
        </p:spPr>
        <p:txBody>
          <a:bodyPr wrap="square" anchor="t" lIns="54864" rIns="54864" tIns="27432" bIns="27432">
            <a:spAutoFit/>
          </a:bodyPr>
          <a:lstStyle/>
          <a:p>
            <a:pPr algn="l">
              <a:spcAft>
                <a:spcPts val="400"/>
              </a:spcAft>
            </a:pPr>
            <a:r>
              <a:rPr sz="1800" b="1" i="0">
                <a:solidFill>
                  <a:srgbClr val="FFFFFF"/>
                </a:solidFill>
                <a:latin typeface="Calibri"/>
              </a:rPr>
              <a:t>Η προσέγγισή μου</a:t>
            </a:r>
          </a:p>
        </p:txBody>
      </p:sp>
      <p:sp>
        <p:nvSpPr>
          <p:cNvPr id="14" name="TextBox 13"/>
          <p:cNvSpPr txBox="1"/>
          <p:nvPr/>
        </p:nvSpPr>
        <p:spPr>
          <a:xfrm>
            <a:off x="6446520" y="2286000"/>
            <a:ext cx="4937760" cy="3657600"/>
          </a:xfrm>
          <a:prstGeom prst="rect">
            <a:avLst/>
          </a:prstGeom>
          <a:noFill/>
        </p:spPr>
        <p:txBody>
          <a:bodyPr wrap="square">
            <a:spAutoFit/>
          </a:bodyPr>
          <a:lstStyle/>
          <a:p>
            <a:pPr>
              <a:spcAft>
                <a:spcPts val="800"/>
              </a:spcAft>
            </a:pPr>
            <a:r>
              <a:rPr sz="1550" b="1" i="0">
                <a:solidFill>
                  <a:srgbClr val="148F88"/>
                </a:solidFill>
                <a:latin typeface="Calibri"/>
              </a:rPr>
              <a:t>▸ </a:t>
            </a:r>
            <a:r>
              <a:rPr sz="1550" b="1" i="0">
                <a:solidFill>
                  <a:srgbClr val="FFFFFF"/>
                </a:solidFill>
                <a:latin typeface="Calibri"/>
              </a:rPr>
              <a:t>Πολυτροπικό: </a:t>
            </a:r>
            <a:r>
              <a:rPr sz="1550" b="0" i="0">
                <a:solidFill>
                  <a:srgbClr val="FFFFFF"/>
                </a:solidFill>
                <a:latin typeface="Calibri"/>
              </a:rPr>
              <a:t>τιμές + κείμενο μαζί</a:t>
            </a:r>
          </a:p>
          <a:p>
            <a:pPr>
              <a:spcAft>
                <a:spcPts val="800"/>
              </a:spcAft>
            </a:pPr>
            <a:r>
              <a:rPr sz="1550" b="1" i="0">
                <a:solidFill>
                  <a:srgbClr val="148F88"/>
                </a:solidFill>
                <a:latin typeface="Calibri"/>
              </a:rPr>
              <a:t>▸ </a:t>
            </a:r>
            <a:r>
              <a:rPr sz="1550" b="1" i="0">
                <a:solidFill>
                  <a:srgbClr val="FFFFFF"/>
                </a:solidFill>
                <a:latin typeface="Calibri"/>
              </a:rPr>
              <a:t>Αυτόματο &amp; event-driven: </a:t>
            </a:r>
            <a:r>
              <a:rPr sz="1550" b="0" i="0">
                <a:solidFill>
                  <a:srgbClr val="FFFFFF"/>
                </a:solidFill>
                <a:latin typeface="Calibri"/>
              </a:rPr>
              <a:t>σε πραγματικό χρόνο</a:t>
            </a:r>
          </a:p>
          <a:p>
            <a:pPr>
              <a:spcAft>
                <a:spcPts val="800"/>
              </a:spcAft>
            </a:pPr>
            <a:r>
              <a:rPr sz="1550" b="1" i="0">
                <a:solidFill>
                  <a:srgbClr val="148F88"/>
                </a:solidFill>
                <a:latin typeface="Calibri"/>
              </a:rPr>
              <a:t>▸ </a:t>
            </a:r>
            <a:r>
              <a:rPr sz="1550" b="1" i="0">
                <a:solidFill>
                  <a:srgbClr val="FFFFFF"/>
                </a:solidFill>
                <a:latin typeface="Calibri"/>
              </a:rPr>
              <a:t>Πολλαπλά μοντέλα: </a:t>
            </a:r>
            <a:r>
              <a:rPr sz="1550" b="0" i="0">
                <a:solidFill>
                  <a:srgbClr val="FFFFFF"/>
                </a:solidFill>
                <a:latin typeface="Calibri"/>
              </a:rPr>
              <a:t>ensemble 5 αλγορίθμων</a:t>
            </a:r>
          </a:p>
          <a:p>
            <a:pPr>
              <a:spcAft>
                <a:spcPts val="800"/>
              </a:spcAft>
            </a:pPr>
            <a:r>
              <a:rPr sz="1550" b="1" i="0">
                <a:solidFill>
                  <a:srgbClr val="148F88"/>
                </a:solidFill>
                <a:latin typeface="Calibri"/>
              </a:rPr>
              <a:t>▸ </a:t>
            </a:r>
            <a:r>
              <a:rPr sz="1550" b="1" i="0">
                <a:solidFill>
                  <a:srgbClr val="FFFFFF"/>
                </a:solidFill>
                <a:latin typeface="Calibri"/>
              </a:rPr>
              <a:t>Έντιμη αξιολόγηση: </a:t>
            </a:r>
            <a:r>
              <a:rPr sz="1550" b="0" i="0">
                <a:solidFill>
                  <a:srgbClr val="FFFFFF"/>
                </a:solidFill>
                <a:latin typeface="Calibri"/>
              </a:rPr>
              <a:t>χωρίς φουσκωμένα νούμερα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ΠΛΑΊΣΙΟ</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Στόχοι της εργασίας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4</a:t>
            </a:r>
          </a:p>
        </p:txBody>
      </p:sp>
      <p:sp>
        <p:nvSpPr>
          <p:cNvPr id="9" name="Rounded Rectangle 8"/>
          <p:cNvSpPr/>
          <p:nvPr/>
        </p:nvSpPr>
        <p:spPr>
          <a:xfrm>
            <a:off x="548640"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2697480" cy="8229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1</a:t>
            </a:r>
          </a:p>
        </p:txBody>
      </p:sp>
      <p:sp>
        <p:nvSpPr>
          <p:cNvPr id="12" name="TextBox 11"/>
          <p:cNvSpPr txBox="1"/>
          <p:nvPr/>
        </p:nvSpPr>
        <p:spPr>
          <a:xfrm>
            <a:off x="685800"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Συλλογή δεδομένων</a:t>
            </a:r>
          </a:p>
        </p:txBody>
      </p:sp>
      <p:sp>
        <p:nvSpPr>
          <p:cNvPr id="13" name="TextBox 12"/>
          <p:cNvSpPr txBox="1"/>
          <p:nvPr/>
        </p:nvSpPr>
        <p:spPr>
          <a:xfrm>
            <a:off x="713232"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Αυτόματη, event-driven άντληση από 7 ετερογενείς πηγές</a:t>
            </a:r>
          </a:p>
        </p:txBody>
      </p:sp>
      <p:sp>
        <p:nvSpPr>
          <p:cNvPr id="14" name="Rounded Rectangle 13"/>
          <p:cNvSpPr/>
          <p:nvPr/>
        </p:nvSpPr>
        <p:spPr>
          <a:xfrm>
            <a:off x="3355848"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5848" y="1691640"/>
            <a:ext cx="2697480" cy="8229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55848"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2</a:t>
            </a:r>
          </a:p>
        </p:txBody>
      </p:sp>
      <p:sp>
        <p:nvSpPr>
          <p:cNvPr id="17" name="TextBox 16"/>
          <p:cNvSpPr txBox="1"/>
          <p:nvPr/>
        </p:nvSpPr>
        <p:spPr>
          <a:xfrm>
            <a:off x="3493008"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Ανάλυση συναισθήματος</a:t>
            </a:r>
          </a:p>
        </p:txBody>
      </p:sp>
      <p:sp>
        <p:nvSpPr>
          <p:cNvPr id="18" name="TextBox 17"/>
          <p:cNvSpPr txBox="1"/>
          <p:nvPr/>
        </p:nvSpPr>
        <p:spPr>
          <a:xfrm>
            <a:off x="3520440"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Βαθμολόγηση χρηματοοικονομικού κειμένου με FinBERT</a:t>
            </a:r>
          </a:p>
        </p:txBody>
      </p:sp>
      <p:sp>
        <p:nvSpPr>
          <p:cNvPr id="19" name="Rounded Rectangle 18"/>
          <p:cNvSpPr/>
          <p:nvPr/>
        </p:nvSpPr>
        <p:spPr>
          <a:xfrm>
            <a:off x="6163056"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3056" y="1691640"/>
            <a:ext cx="2697480" cy="82296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3056"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3</a:t>
            </a:r>
          </a:p>
        </p:txBody>
      </p:sp>
      <p:sp>
        <p:nvSpPr>
          <p:cNvPr id="22" name="TextBox 21"/>
          <p:cNvSpPr txBox="1"/>
          <p:nvPr/>
        </p:nvSpPr>
        <p:spPr>
          <a:xfrm>
            <a:off x="6300216"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Συνδυαστική πρόβλεψη</a:t>
            </a:r>
          </a:p>
        </p:txBody>
      </p:sp>
      <p:sp>
        <p:nvSpPr>
          <p:cNvPr id="23" name="TextBox 22"/>
          <p:cNvSpPr txBox="1"/>
          <p:nvPr/>
        </p:nvSpPr>
        <p:spPr>
          <a:xfrm>
            <a:off x="6327648"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Ensemble 5 μοντέλων για σήμα Buy/Sell/Hold</a:t>
            </a:r>
          </a:p>
        </p:txBody>
      </p:sp>
      <p:sp>
        <p:nvSpPr>
          <p:cNvPr id="24" name="Rounded Rectangle 23"/>
          <p:cNvSpPr/>
          <p:nvPr/>
        </p:nvSpPr>
        <p:spPr>
          <a:xfrm>
            <a:off x="8970264" y="1691640"/>
            <a:ext cx="2697480" cy="28346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70264" y="1691640"/>
            <a:ext cx="2697480" cy="8229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70264" y="1746504"/>
            <a:ext cx="2697480" cy="731520"/>
          </a:xfrm>
          <a:prstGeom prst="rect">
            <a:avLst/>
          </a:prstGeom>
          <a:noFill/>
        </p:spPr>
        <p:txBody>
          <a:bodyPr wrap="square" anchor="ctr" lIns="54864" rIns="54864" tIns="27432" bIns="27432">
            <a:spAutoFit/>
          </a:bodyPr>
          <a:lstStyle/>
          <a:p>
            <a:pPr algn="ctr">
              <a:spcAft>
                <a:spcPts val="400"/>
              </a:spcAft>
            </a:pPr>
            <a:r>
              <a:rPr sz="3400" b="1" i="0">
                <a:solidFill>
                  <a:srgbClr val="FFFFFF"/>
                </a:solidFill>
                <a:latin typeface="Calibri"/>
              </a:rPr>
              <a:t>4</a:t>
            </a:r>
          </a:p>
        </p:txBody>
      </p:sp>
      <p:sp>
        <p:nvSpPr>
          <p:cNvPr id="27" name="TextBox 26"/>
          <p:cNvSpPr txBox="1"/>
          <p:nvPr/>
        </p:nvSpPr>
        <p:spPr>
          <a:xfrm>
            <a:off x="9107424" y="2651760"/>
            <a:ext cx="2423160" cy="731520"/>
          </a:xfrm>
          <a:prstGeom prst="rect">
            <a:avLst/>
          </a:prstGeom>
          <a:noFill/>
        </p:spPr>
        <p:txBody>
          <a:bodyPr wrap="square" anchor="t" lIns="54864" rIns="54864" tIns="27432" bIns="27432">
            <a:spAutoFit/>
          </a:bodyPr>
          <a:lstStyle/>
          <a:p>
            <a:pPr algn="ctr">
              <a:spcAft>
                <a:spcPts val="400"/>
              </a:spcAft>
            </a:pPr>
            <a:r>
              <a:rPr sz="1550" b="1" i="0">
                <a:solidFill>
                  <a:srgbClr val="142E54"/>
                </a:solidFill>
                <a:latin typeface="Calibri"/>
              </a:rPr>
              <a:t>Λειτουργικό εργαλείο</a:t>
            </a:r>
          </a:p>
        </p:txBody>
      </p:sp>
      <p:sp>
        <p:nvSpPr>
          <p:cNvPr id="28" name="TextBox 27"/>
          <p:cNvSpPr txBox="1"/>
          <p:nvPr/>
        </p:nvSpPr>
        <p:spPr>
          <a:xfrm>
            <a:off x="9134856" y="3383280"/>
            <a:ext cx="2368296" cy="1005840"/>
          </a:xfrm>
          <a:prstGeom prst="rect">
            <a:avLst/>
          </a:prstGeom>
          <a:noFill/>
        </p:spPr>
        <p:txBody>
          <a:bodyPr wrap="square" anchor="t" lIns="54864" rIns="54864" tIns="27432" bIns="27432">
            <a:spAutoFit/>
          </a:bodyPr>
          <a:lstStyle/>
          <a:p>
            <a:pPr algn="ctr">
              <a:spcAft>
                <a:spcPts val="400"/>
              </a:spcAft>
            </a:pPr>
            <a:r>
              <a:rPr sz="1250" b="0" i="0">
                <a:solidFill>
                  <a:srgbClr val="5A6370"/>
                </a:solidFill>
                <a:latin typeface="Calibri"/>
              </a:rPr>
              <a:t>Διαδραστικό, ερμηνεύσιμο dashboard</a:t>
            </a:r>
          </a:p>
        </p:txBody>
      </p:sp>
      <p:sp>
        <p:nvSpPr>
          <p:cNvPr id="29" name="Rounded Rectangle 28"/>
          <p:cNvSpPr/>
          <p:nvPr/>
        </p:nvSpPr>
        <p:spPr>
          <a:xfrm>
            <a:off x="548640" y="4754880"/>
            <a:ext cx="11091672" cy="11430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92040"/>
            <a:ext cx="10607040" cy="914400"/>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Συνεισφορά: </a:t>
            </a:r>
          </a:p>
          <a:p>
            <a:pPr algn="l">
              <a:spcAft>
                <a:spcPts val="400"/>
              </a:spcAft>
            </a:pPr>
            <a:r>
              <a:rPr sz="1500" b="0" i="0">
                <a:solidFill>
                  <a:srgbClr val="202733"/>
                </a:solidFill>
                <a:latin typeface="Calibri"/>
              </a:rPr>
              <a:t>πλήρες σύστημα ανοιχτού κώδικα + μεθοδολογική αυστηρότητα + εστιασμένη μελέτη για τη στάθμιση συναισθήματος με βάση την αξιοπιστία πηγής.</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ΣΧΕΔΙΑΣΜΌΣ</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Αρχιτεκτονική του συστήματος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5</a:t>
            </a:r>
          </a:p>
        </p:txBody>
      </p:sp>
      <p:pic>
        <p:nvPicPr>
          <p:cNvPr id="9" name="Picture 8" descr="eikona_3_1_arxitektoniki.png"/>
          <p:cNvPicPr>
            <a:picLocks noChangeAspect="1"/>
          </p:cNvPicPr>
          <p:nvPr/>
        </p:nvPicPr>
        <p:blipFill>
          <a:blip r:embed="rId2"/>
          <a:stretch>
            <a:fillRect/>
          </a:stretch>
        </p:blipFill>
        <p:spPr>
          <a:xfrm>
            <a:off x="457200" y="1463040"/>
            <a:ext cx="3996597" cy="5120640"/>
          </a:xfrm>
          <a:prstGeom prst="rect">
            <a:avLst/>
          </a:prstGeom>
          <a:ln w="12700">
            <a:solidFill>
              <a:srgbClr val="D5DDE8"/>
            </a:solidFill>
          </a:ln>
        </p:spPr>
      </p:pic>
      <p:sp>
        <p:nvSpPr>
          <p:cNvPr id="10" name="TextBox 9"/>
          <p:cNvSpPr txBox="1"/>
          <p:nvPr/>
        </p:nvSpPr>
        <p:spPr>
          <a:xfrm>
            <a:off x="5852160" y="1828800"/>
            <a:ext cx="5760720" cy="4206240"/>
          </a:xfrm>
          <a:prstGeom prst="rect">
            <a:avLst/>
          </a:prstGeom>
          <a:noFill/>
        </p:spPr>
        <p:txBody>
          <a:bodyPr wrap="square">
            <a:spAutoFit/>
          </a:bodyPr>
          <a:lstStyle/>
          <a:p>
            <a:pPr>
              <a:spcAft>
                <a:spcPts val="1400"/>
              </a:spcAft>
            </a:pPr>
            <a:r>
              <a:rPr sz="1700" b="1" i="0">
                <a:solidFill>
                  <a:srgbClr val="148F88"/>
                </a:solidFill>
                <a:latin typeface="Calibri"/>
              </a:rPr>
              <a:t>▸ </a:t>
            </a:r>
            <a:r>
              <a:rPr sz="1700" b="1" i="0">
                <a:solidFill>
                  <a:srgbClr val="202733"/>
                </a:solidFill>
                <a:latin typeface="Calibri"/>
              </a:rPr>
              <a:t>Αρθρωτή σχεδίαση: </a:t>
            </a:r>
            <a:r>
              <a:rPr sz="1700" b="0" i="0">
                <a:solidFill>
                  <a:srgbClr val="202733"/>
                </a:solidFill>
                <a:latin typeface="Calibri"/>
              </a:rPr>
              <a:t>6 ανεξάρτητα στάδια</a:t>
            </a:r>
          </a:p>
          <a:p>
            <a:pPr>
              <a:spcAft>
                <a:spcPts val="1400"/>
              </a:spcAft>
            </a:pPr>
            <a:r>
              <a:rPr sz="1700" b="1" i="0">
                <a:solidFill>
                  <a:srgbClr val="148F88"/>
                </a:solidFill>
                <a:latin typeface="Calibri"/>
              </a:rPr>
              <a:t>▸ </a:t>
            </a:r>
            <a:r>
              <a:rPr sz="1700" b="1" i="0">
                <a:solidFill>
                  <a:srgbClr val="202733"/>
                </a:solidFill>
                <a:latin typeface="Calibri"/>
              </a:rPr>
              <a:t>Event-driven: </a:t>
            </a:r>
            <a:r>
              <a:rPr sz="1700" b="0" i="0">
                <a:solidFill>
                  <a:srgbClr val="202733"/>
                </a:solidFill>
                <a:latin typeface="Calibri"/>
              </a:rPr>
              <a:t>data-triggered (polling 20′)</a:t>
            </a:r>
          </a:p>
          <a:p>
            <a:pPr>
              <a:spcAft>
                <a:spcPts val="1400"/>
              </a:spcAft>
            </a:pPr>
            <a:r>
              <a:rPr sz="1700" b="1" i="0">
                <a:solidFill>
                  <a:srgbClr val="148F88"/>
                </a:solidFill>
                <a:latin typeface="Calibri"/>
              </a:rPr>
              <a:t>▸ </a:t>
            </a:r>
            <a:r>
              <a:rPr sz="1700" b="1" i="0">
                <a:solidFill>
                  <a:srgbClr val="202733"/>
                </a:solidFill>
                <a:latin typeface="Calibri"/>
              </a:rPr>
              <a:t>Όχι webhooks/broker </a:t>
            </a:r>
            <a:r>
              <a:rPr sz="1700" b="0" i="0">
                <a:solidFill>
                  <a:srgbClr val="202733"/>
                </a:solidFill>
                <a:latin typeface="Calibri"/>
              </a:rPr>
              <a:t>— το δηλώνω ρητά</a:t>
            </a:r>
          </a:p>
          <a:p>
            <a:pPr>
              <a:spcAft>
                <a:spcPts val="1400"/>
              </a:spcAft>
            </a:pPr>
            <a:r>
              <a:rPr sz="1700" b="1" i="0">
                <a:solidFill>
                  <a:srgbClr val="148F88"/>
                </a:solidFill>
                <a:latin typeface="Calibri"/>
              </a:rPr>
              <a:t>▸ </a:t>
            </a:r>
            <a:r>
              <a:rPr sz="1700" b="1" i="0">
                <a:solidFill>
                  <a:srgbClr val="202733"/>
                </a:solidFill>
                <a:latin typeface="Calibri"/>
              </a:rPr>
              <a:t>Client–server: </a:t>
            </a:r>
            <a:r>
              <a:rPr sz="1700" b="0" i="0">
                <a:solidFill>
                  <a:srgbClr val="202733"/>
                </a:solidFill>
                <a:latin typeface="Calibri"/>
              </a:rPr>
              <a:t>FastAPI backend + React frontend</a:t>
            </a:r>
          </a:p>
          <a:p>
            <a:pPr>
              <a:spcAft>
                <a:spcPts val="1400"/>
              </a:spcAft>
            </a:pPr>
            <a:r>
              <a:rPr sz="1700" b="1" i="0">
                <a:solidFill>
                  <a:srgbClr val="148F88"/>
                </a:solidFill>
                <a:latin typeface="Calibri"/>
              </a:rPr>
              <a:t>▸ </a:t>
            </a:r>
            <a:r>
              <a:rPr sz="1700" b="1" i="0">
                <a:solidFill>
                  <a:srgbClr val="202733"/>
                </a:solidFill>
                <a:latin typeface="Calibri"/>
              </a:rPr>
              <a:t>Πλήρως </a:t>
            </a:r>
            <a:r>
              <a:rPr sz="1700" b="0" i="0">
                <a:solidFill>
                  <a:srgbClr val="202733"/>
                </a:solidFill>
                <a:latin typeface="Calibri"/>
              </a:rPr>
              <a:t>ανοιχτού κώδικα</a:t>
            </a:r>
          </a:p>
        </p:txBody>
      </p:sp>
      <p:sp>
        <p:nvSpPr>
          <p:cNvPr id="11" name="Rounded Rectangle 10"/>
          <p:cNvSpPr/>
          <p:nvPr/>
        </p:nvSpPr>
        <p:spPr>
          <a:xfrm>
            <a:off x="5852160" y="4937760"/>
            <a:ext cx="5760720" cy="9144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5029200"/>
            <a:ext cx="5394960" cy="731520"/>
          </a:xfrm>
          <a:prstGeom prst="rect">
            <a:avLst/>
          </a:prstGeom>
          <a:noFill/>
        </p:spPr>
        <p:txBody>
          <a:bodyPr wrap="square" anchor="ctr" lIns="54864" rIns="54864" tIns="27432" bIns="27432">
            <a:spAutoFit/>
          </a:bodyPr>
          <a:lstStyle/>
          <a:p>
            <a:pPr algn="l">
              <a:spcAft>
                <a:spcPts val="400"/>
              </a:spcAft>
            </a:pPr>
            <a:r>
              <a:rPr sz="1300" b="1" i="0">
                <a:solidFill>
                  <a:srgbClr val="142E54"/>
                </a:solidFill>
                <a:latin typeface="Calibri"/>
              </a:rPr>
              <a:t>Ροή: Πηγές → Scrapers → MongoDB → FinBERT → Features → Μοντέλα → Backend → UI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ΥΛΟΠΟΊΗΣΗ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Τεχνολογίες &amp; εργαλεία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6</a:t>
            </a:r>
          </a:p>
        </p:txBody>
      </p:sp>
      <p:sp>
        <p:nvSpPr>
          <p:cNvPr id="9" name="Rounded Rectangle 8"/>
          <p:cNvSpPr/>
          <p:nvPr/>
        </p:nvSpPr>
        <p:spPr>
          <a:xfrm>
            <a:off x="548640"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3611880" cy="4572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Backend &amp; API</a:t>
            </a:r>
          </a:p>
        </p:txBody>
      </p:sp>
      <p:sp>
        <p:nvSpPr>
          <p:cNvPr id="12" name="TextBox 11"/>
          <p:cNvSpPr txBox="1"/>
          <p:nvPr/>
        </p:nvSpPr>
        <p:spPr>
          <a:xfrm>
            <a:off x="731520" y="2212848"/>
            <a:ext cx="3291840" cy="1508760"/>
          </a:xfrm>
          <a:prstGeom prst="rect">
            <a:avLst/>
          </a:prstGeom>
          <a:noFill/>
        </p:spPr>
        <p:txBody>
          <a:bodyPr wrap="square">
            <a:spAutoFit/>
          </a:bodyPr>
          <a:lstStyle/>
          <a:p>
            <a:pPr>
              <a:spcAft>
                <a:spcPts val="600"/>
              </a:spcAft>
            </a:pPr>
            <a:r>
              <a:rPr sz="1350" b="1" i="0">
                <a:solidFill>
                  <a:srgbClr val="2E6FB7"/>
                </a:solidFill>
                <a:latin typeface="Calibri"/>
              </a:rPr>
              <a:t>▸ </a:t>
            </a:r>
            <a:r>
              <a:rPr sz="1350" b="0" i="0">
                <a:solidFill>
                  <a:srgbClr val="202733"/>
                </a:solidFill>
                <a:latin typeface="Calibri"/>
              </a:rPr>
              <a:t>Python 3.11</a:t>
            </a:r>
          </a:p>
          <a:p>
            <a:pPr>
              <a:spcAft>
                <a:spcPts val="600"/>
              </a:spcAft>
            </a:pPr>
            <a:r>
              <a:rPr sz="1350" b="1" i="0">
                <a:solidFill>
                  <a:srgbClr val="2E6FB7"/>
                </a:solidFill>
                <a:latin typeface="Calibri"/>
              </a:rPr>
              <a:t>▸ </a:t>
            </a:r>
            <a:r>
              <a:rPr sz="1350" b="0" i="0">
                <a:solidFill>
                  <a:srgbClr val="202733"/>
                </a:solidFill>
                <a:latin typeface="Calibri"/>
              </a:rPr>
              <a:t>FastAPI</a:t>
            </a:r>
          </a:p>
          <a:p>
            <a:pPr>
              <a:spcAft>
                <a:spcPts val="600"/>
              </a:spcAft>
            </a:pPr>
            <a:r>
              <a:rPr sz="1350" b="1" i="0">
                <a:solidFill>
                  <a:srgbClr val="2E6FB7"/>
                </a:solidFill>
                <a:latin typeface="Calibri"/>
              </a:rPr>
              <a:t>▸ </a:t>
            </a:r>
            <a:r>
              <a:rPr sz="1350" b="0" i="0">
                <a:solidFill>
                  <a:srgbClr val="202733"/>
                </a:solidFill>
                <a:latin typeface="Calibri"/>
              </a:rPr>
              <a:t>Uvicorn (ASGI)</a:t>
            </a:r>
          </a:p>
        </p:txBody>
      </p:sp>
      <p:sp>
        <p:nvSpPr>
          <p:cNvPr id="13" name="Rounded Rectangle 12"/>
          <p:cNvSpPr/>
          <p:nvPr/>
        </p:nvSpPr>
        <p:spPr>
          <a:xfrm>
            <a:off x="4288536"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8536" y="1645920"/>
            <a:ext cx="3611880" cy="45720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88536"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Frontend</a:t>
            </a:r>
          </a:p>
        </p:txBody>
      </p:sp>
      <p:sp>
        <p:nvSpPr>
          <p:cNvPr id="16" name="TextBox 15"/>
          <p:cNvSpPr txBox="1"/>
          <p:nvPr/>
        </p:nvSpPr>
        <p:spPr>
          <a:xfrm>
            <a:off x="4471416" y="2212848"/>
            <a:ext cx="3291840" cy="1508760"/>
          </a:xfrm>
          <a:prstGeom prst="rect">
            <a:avLst/>
          </a:prstGeom>
          <a:noFill/>
        </p:spPr>
        <p:txBody>
          <a:bodyPr wrap="square">
            <a:spAutoFit/>
          </a:bodyPr>
          <a:lstStyle/>
          <a:p>
            <a:pPr>
              <a:spcAft>
                <a:spcPts val="600"/>
              </a:spcAft>
            </a:pPr>
            <a:r>
              <a:rPr sz="1350" b="1" i="0">
                <a:solidFill>
                  <a:srgbClr val="148F88"/>
                </a:solidFill>
                <a:latin typeface="Calibri"/>
              </a:rPr>
              <a:t>▸ </a:t>
            </a:r>
            <a:r>
              <a:rPr sz="1350" b="0" i="0">
                <a:solidFill>
                  <a:srgbClr val="202733"/>
                </a:solidFill>
                <a:latin typeface="Calibri"/>
              </a:rPr>
              <a:t>React</a:t>
            </a:r>
          </a:p>
          <a:p>
            <a:pPr>
              <a:spcAft>
                <a:spcPts val="600"/>
              </a:spcAft>
            </a:pPr>
            <a:r>
              <a:rPr sz="1350" b="1" i="0">
                <a:solidFill>
                  <a:srgbClr val="148F88"/>
                </a:solidFill>
                <a:latin typeface="Calibri"/>
              </a:rPr>
              <a:t>▸ </a:t>
            </a:r>
            <a:r>
              <a:rPr sz="1350" b="0" i="0">
                <a:solidFill>
                  <a:srgbClr val="202733"/>
                </a:solidFill>
                <a:latin typeface="Calibri"/>
              </a:rPr>
              <a:t>Vite</a:t>
            </a:r>
          </a:p>
          <a:p>
            <a:pPr>
              <a:spcAft>
                <a:spcPts val="600"/>
              </a:spcAft>
            </a:pPr>
            <a:r>
              <a:rPr sz="1350" b="1" i="0">
                <a:solidFill>
                  <a:srgbClr val="148F88"/>
                </a:solidFill>
                <a:latin typeface="Calibri"/>
              </a:rPr>
              <a:t>▸ </a:t>
            </a:r>
            <a:r>
              <a:rPr sz="1350" b="0" i="0">
                <a:solidFill>
                  <a:srgbClr val="202733"/>
                </a:solidFill>
                <a:latin typeface="Calibri"/>
              </a:rPr>
              <a:t>TailwindCSS</a:t>
            </a:r>
          </a:p>
          <a:p>
            <a:pPr>
              <a:spcAft>
                <a:spcPts val="600"/>
              </a:spcAft>
            </a:pPr>
            <a:r>
              <a:rPr sz="1350" b="1" i="0">
                <a:solidFill>
                  <a:srgbClr val="148F88"/>
                </a:solidFill>
                <a:latin typeface="Calibri"/>
              </a:rPr>
              <a:t>▸ </a:t>
            </a:r>
            <a:r>
              <a:rPr sz="1350" b="0" i="0">
                <a:solidFill>
                  <a:srgbClr val="202733"/>
                </a:solidFill>
                <a:latin typeface="Calibri"/>
              </a:rPr>
              <a:t>axios</a:t>
            </a:r>
          </a:p>
        </p:txBody>
      </p:sp>
      <p:sp>
        <p:nvSpPr>
          <p:cNvPr id="17" name="Rounded Rectangle 16"/>
          <p:cNvSpPr/>
          <p:nvPr/>
        </p:nvSpPr>
        <p:spPr>
          <a:xfrm>
            <a:off x="8028431" y="164592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28431" y="1645920"/>
            <a:ext cx="3611880" cy="4572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28431" y="164592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Βάση &amp; Συλλογή</a:t>
            </a:r>
          </a:p>
        </p:txBody>
      </p:sp>
      <p:sp>
        <p:nvSpPr>
          <p:cNvPr id="20" name="TextBox 19"/>
          <p:cNvSpPr txBox="1"/>
          <p:nvPr/>
        </p:nvSpPr>
        <p:spPr>
          <a:xfrm>
            <a:off x="8211311" y="2212848"/>
            <a:ext cx="3291840" cy="1508760"/>
          </a:xfrm>
          <a:prstGeom prst="rect">
            <a:avLst/>
          </a:prstGeom>
          <a:noFill/>
        </p:spPr>
        <p:txBody>
          <a:bodyPr wrap="square">
            <a:spAutoFit/>
          </a:bodyPr>
          <a:lstStyle/>
          <a:p>
            <a:pPr>
              <a:spcAft>
                <a:spcPts val="600"/>
              </a:spcAft>
            </a:pPr>
            <a:r>
              <a:rPr sz="1350" b="1" i="0">
                <a:solidFill>
                  <a:srgbClr val="C8861E"/>
                </a:solidFill>
                <a:latin typeface="Calibri"/>
              </a:rPr>
              <a:t>▸ </a:t>
            </a:r>
            <a:r>
              <a:rPr sz="1350" b="0" i="0">
                <a:solidFill>
                  <a:srgbClr val="202733"/>
                </a:solidFill>
                <a:latin typeface="Calibri"/>
              </a:rPr>
              <a:t>MongoDB</a:t>
            </a:r>
          </a:p>
          <a:p>
            <a:pPr>
              <a:spcAft>
                <a:spcPts val="600"/>
              </a:spcAft>
            </a:pPr>
            <a:r>
              <a:rPr sz="1350" b="1" i="0">
                <a:solidFill>
                  <a:srgbClr val="C8861E"/>
                </a:solidFill>
                <a:latin typeface="Calibri"/>
              </a:rPr>
              <a:t>▸ </a:t>
            </a:r>
            <a:r>
              <a:rPr sz="1350" b="0" i="0">
                <a:solidFill>
                  <a:srgbClr val="202733"/>
                </a:solidFill>
                <a:latin typeface="Calibri"/>
              </a:rPr>
              <a:t>requests</a:t>
            </a:r>
          </a:p>
          <a:p>
            <a:pPr>
              <a:spcAft>
                <a:spcPts val="600"/>
              </a:spcAft>
            </a:pPr>
            <a:r>
              <a:rPr sz="1350" b="1" i="0">
                <a:solidFill>
                  <a:srgbClr val="C8861E"/>
                </a:solidFill>
                <a:latin typeface="Calibri"/>
              </a:rPr>
              <a:t>▸ </a:t>
            </a:r>
            <a:r>
              <a:rPr sz="1350" b="0" i="0">
                <a:solidFill>
                  <a:srgbClr val="202733"/>
                </a:solidFill>
                <a:latin typeface="Calibri"/>
              </a:rPr>
              <a:t>BeautifulSoup</a:t>
            </a:r>
          </a:p>
          <a:p>
            <a:pPr>
              <a:spcAft>
                <a:spcPts val="600"/>
              </a:spcAft>
            </a:pPr>
            <a:r>
              <a:rPr sz="1350" b="1" i="0">
                <a:solidFill>
                  <a:srgbClr val="C8861E"/>
                </a:solidFill>
                <a:latin typeface="Calibri"/>
              </a:rPr>
              <a:t>▸ </a:t>
            </a:r>
            <a:r>
              <a:rPr sz="1350" b="0" i="0">
                <a:solidFill>
                  <a:srgbClr val="202733"/>
                </a:solidFill>
                <a:latin typeface="Calibri"/>
              </a:rPr>
              <a:t>yfinance</a:t>
            </a:r>
          </a:p>
        </p:txBody>
      </p:sp>
      <p:sp>
        <p:nvSpPr>
          <p:cNvPr id="21" name="Rounded Rectangle 20"/>
          <p:cNvSpPr/>
          <p:nvPr/>
        </p:nvSpPr>
        <p:spPr>
          <a:xfrm>
            <a:off x="548640"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977640"/>
            <a:ext cx="361188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Μηχανική Μάθηση</a:t>
            </a:r>
          </a:p>
        </p:txBody>
      </p:sp>
      <p:sp>
        <p:nvSpPr>
          <p:cNvPr id="24" name="TextBox 23"/>
          <p:cNvSpPr txBox="1"/>
          <p:nvPr/>
        </p:nvSpPr>
        <p:spPr>
          <a:xfrm>
            <a:off x="731520" y="4544568"/>
            <a:ext cx="3291840" cy="1508760"/>
          </a:xfrm>
          <a:prstGeom prst="rect">
            <a:avLst/>
          </a:prstGeom>
          <a:noFill/>
        </p:spPr>
        <p:txBody>
          <a:bodyPr wrap="square">
            <a:spAutoFit/>
          </a:bodyPr>
          <a:lstStyle/>
          <a:p>
            <a:pPr>
              <a:spcAft>
                <a:spcPts val="600"/>
              </a:spcAft>
            </a:pPr>
            <a:r>
              <a:rPr sz="1350" b="1" i="0">
                <a:solidFill>
                  <a:srgbClr val="2E7D32"/>
                </a:solidFill>
                <a:latin typeface="Calibri"/>
              </a:rPr>
              <a:t>▸ </a:t>
            </a:r>
            <a:r>
              <a:rPr sz="1350" b="0" i="0">
                <a:solidFill>
                  <a:srgbClr val="202733"/>
                </a:solidFill>
                <a:latin typeface="Calibri"/>
              </a:rPr>
              <a:t>scikit-learn</a:t>
            </a:r>
          </a:p>
          <a:p>
            <a:pPr>
              <a:spcAft>
                <a:spcPts val="600"/>
              </a:spcAft>
            </a:pPr>
            <a:r>
              <a:rPr sz="1350" b="1" i="0">
                <a:solidFill>
                  <a:srgbClr val="2E7D32"/>
                </a:solidFill>
                <a:latin typeface="Calibri"/>
              </a:rPr>
              <a:t>▸ </a:t>
            </a:r>
            <a:r>
              <a:rPr sz="1350" b="0" i="0">
                <a:solidFill>
                  <a:srgbClr val="202733"/>
                </a:solidFill>
                <a:latin typeface="Calibri"/>
              </a:rPr>
              <a:t>XGBoost</a:t>
            </a:r>
          </a:p>
          <a:p>
            <a:pPr>
              <a:spcAft>
                <a:spcPts val="600"/>
              </a:spcAft>
            </a:pPr>
            <a:r>
              <a:rPr sz="1350" b="1" i="0">
                <a:solidFill>
                  <a:srgbClr val="2E7D32"/>
                </a:solidFill>
                <a:latin typeface="Calibri"/>
              </a:rPr>
              <a:t>▸ </a:t>
            </a:r>
            <a:r>
              <a:rPr sz="1350" b="0" i="0">
                <a:solidFill>
                  <a:srgbClr val="202733"/>
                </a:solidFill>
                <a:latin typeface="Calibri"/>
              </a:rPr>
              <a:t>LightGBM</a:t>
            </a:r>
          </a:p>
          <a:p>
            <a:pPr>
              <a:spcAft>
                <a:spcPts val="600"/>
              </a:spcAft>
            </a:pPr>
            <a:r>
              <a:rPr sz="1350" b="1" i="0">
                <a:solidFill>
                  <a:srgbClr val="2E7D32"/>
                </a:solidFill>
                <a:latin typeface="Calibri"/>
              </a:rPr>
              <a:t>▸ </a:t>
            </a:r>
            <a:r>
              <a:rPr sz="1350" b="0" i="0">
                <a:solidFill>
                  <a:srgbClr val="202733"/>
                </a:solidFill>
                <a:latin typeface="Calibri"/>
              </a:rPr>
              <a:t>TensorFlow/Keras</a:t>
            </a:r>
          </a:p>
        </p:txBody>
      </p:sp>
      <p:sp>
        <p:nvSpPr>
          <p:cNvPr id="25" name="Rounded Rectangle 24"/>
          <p:cNvSpPr/>
          <p:nvPr/>
        </p:nvSpPr>
        <p:spPr>
          <a:xfrm>
            <a:off x="4288536"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88536" y="3977640"/>
            <a:ext cx="3611880" cy="457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88536"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NLP / Συναίσθημα</a:t>
            </a:r>
          </a:p>
        </p:txBody>
      </p:sp>
      <p:sp>
        <p:nvSpPr>
          <p:cNvPr id="28" name="TextBox 27"/>
          <p:cNvSpPr txBox="1"/>
          <p:nvPr/>
        </p:nvSpPr>
        <p:spPr>
          <a:xfrm>
            <a:off x="4471416" y="4544568"/>
            <a:ext cx="3291840" cy="1508760"/>
          </a:xfrm>
          <a:prstGeom prst="rect">
            <a:avLst/>
          </a:prstGeom>
          <a:noFill/>
        </p:spPr>
        <p:txBody>
          <a:bodyPr wrap="square">
            <a:spAutoFit/>
          </a:bodyPr>
          <a:lstStyle/>
          <a:p>
            <a:pPr>
              <a:spcAft>
                <a:spcPts val="600"/>
              </a:spcAft>
            </a:pPr>
            <a:r>
              <a:rPr sz="1350" b="1" i="0">
                <a:solidFill>
                  <a:srgbClr val="142E54"/>
                </a:solidFill>
                <a:latin typeface="Calibri"/>
              </a:rPr>
              <a:t>▸ </a:t>
            </a:r>
            <a:r>
              <a:rPr sz="1350" b="0" i="0">
                <a:solidFill>
                  <a:srgbClr val="202733"/>
                </a:solidFill>
                <a:latin typeface="Calibri"/>
              </a:rPr>
              <a:t>FinBERT</a:t>
            </a:r>
          </a:p>
          <a:p>
            <a:pPr>
              <a:spcAft>
                <a:spcPts val="600"/>
              </a:spcAft>
            </a:pPr>
            <a:r>
              <a:rPr sz="1350" b="1" i="0">
                <a:solidFill>
                  <a:srgbClr val="142E54"/>
                </a:solidFill>
                <a:latin typeface="Calibri"/>
              </a:rPr>
              <a:t>▸ </a:t>
            </a:r>
            <a:r>
              <a:rPr sz="1350" b="0" i="0">
                <a:solidFill>
                  <a:srgbClr val="202733"/>
                </a:solidFill>
                <a:latin typeface="Calibri"/>
              </a:rPr>
              <a:t>Transformers</a:t>
            </a:r>
          </a:p>
          <a:p>
            <a:pPr>
              <a:spcAft>
                <a:spcPts val="600"/>
              </a:spcAft>
            </a:pPr>
            <a:r>
              <a:rPr sz="1350" b="1" i="0">
                <a:solidFill>
                  <a:srgbClr val="142E54"/>
                </a:solidFill>
                <a:latin typeface="Calibri"/>
              </a:rPr>
              <a:t>▸ </a:t>
            </a:r>
            <a:r>
              <a:rPr sz="1350" b="0" i="0">
                <a:solidFill>
                  <a:srgbClr val="202733"/>
                </a:solidFill>
                <a:latin typeface="Calibri"/>
              </a:rPr>
              <a:t>PyTorch</a:t>
            </a:r>
          </a:p>
        </p:txBody>
      </p:sp>
      <p:sp>
        <p:nvSpPr>
          <p:cNvPr id="29" name="Rounded Rectangle 28"/>
          <p:cNvSpPr/>
          <p:nvPr/>
        </p:nvSpPr>
        <p:spPr>
          <a:xfrm>
            <a:off x="8028431" y="3977640"/>
            <a:ext cx="3611880" cy="214884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28431" y="3977640"/>
            <a:ext cx="3611880" cy="4572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28431" y="3977640"/>
            <a:ext cx="3611880" cy="457200"/>
          </a:xfrm>
          <a:prstGeom prst="rect">
            <a:avLst/>
          </a:prstGeom>
          <a:noFill/>
        </p:spPr>
        <p:txBody>
          <a:bodyPr wrap="square" anchor="ctr" lIns="54864" rIns="54864" tIns="27432" bIns="27432">
            <a:spAutoFit/>
          </a:bodyPr>
          <a:lstStyle/>
          <a:p>
            <a:pPr algn="ctr">
              <a:spcAft>
                <a:spcPts val="400"/>
              </a:spcAft>
            </a:pPr>
            <a:r>
              <a:rPr sz="1450" b="1" i="0">
                <a:solidFill>
                  <a:srgbClr val="FFFFFF"/>
                </a:solidFill>
                <a:latin typeface="Calibri"/>
              </a:rPr>
              <a:t>Κίνδυνος &amp; Ερμηνεία</a:t>
            </a:r>
          </a:p>
        </p:txBody>
      </p:sp>
      <p:sp>
        <p:nvSpPr>
          <p:cNvPr id="32" name="TextBox 31"/>
          <p:cNvSpPr txBox="1"/>
          <p:nvPr/>
        </p:nvSpPr>
        <p:spPr>
          <a:xfrm>
            <a:off x="8211311" y="4544568"/>
            <a:ext cx="3291840" cy="1508760"/>
          </a:xfrm>
          <a:prstGeom prst="rect">
            <a:avLst/>
          </a:prstGeom>
          <a:noFill/>
        </p:spPr>
        <p:txBody>
          <a:bodyPr wrap="square">
            <a:spAutoFit/>
          </a:bodyPr>
          <a:lstStyle/>
          <a:p>
            <a:pPr>
              <a:spcAft>
                <a:spcPts val="600"/>
              </a:spcAft>
            </a:pPr>
            <a:r>
              <a:rPr sz="1350" b="1" i="0">
                <a:solidFill>
                  <a:srgbClr val="C03939"/>
                </a:solidFill>
                <a:latin typeface="Calibri"/>
              </a:rPr>
              <a:t>▸ </a:t>
            </a:r>
            <a:r>
              <a:rPr sz="1350" b="0" i="0">
                <a:solidFill>
                  <a:srgbClr val="202733"/>
                </a:solidFill>
                <a:latin typeface="Calibri"/>
              </a:rPr>
              <a:t>arch (GARCH)</a:t>
            </a:r>
          </a:p>
          <a:p>
            <a:pPr>
              <a:spcAft>
                <a:spcPts val="600"/>
              </a:spcAft>
            </a:pPr>
            <a:r>
              <a:rPr sz="1350" b="1" i="0">
                <a:solidFill>
                  <a:srgbClr val="C03939"/>
                </a:solidFill>
                <a:latin typeface="Calibri"/>
              </a:rPr>
              <a:t>▸ </a:t>
            </a:r>
            <a:r>
              <a:rPr sz="1350" b="0" i="0">
                <a:solidFill>
                  <a:srgbClr val="202733"/>
                </a:solidFill>
                <a:latin typeface="Calibri"/>
              </a:rPr>
              <a:t>Monte Carlo</a:t>
            </a:r>
          </a:p>
          <a:p>
            <a:pPr>
              <a:spcAft>
                <a:spcPts val="600"/>
              </a:spcAft>
            </a:pPr>
            <a:r>
              <a:rPr sz="1350" b="1" i="0">
                <a:solidFill>
                  <a:srgbClr val="C03939"/>
                </a:solidFill>
                <a:latin typeface="Calibri"/>
              </a:rPr>
              <a:t>▸ </a:t>
            </a:r>
            <a:r>
              <a:rPr sz="1350" b="0" i="0">
                <a:solidFill>
                  <a:srgbClr val="202733"/>
                </a:solidFill>
                <a:latin typeface="Calibri"/>
              </a:rPr>
              <a:t>SHAP</a:t>
            </a:r>
          </a:p>
        </p:txBody>
      </p:sp>
      <p:sp>
        <p:nvSpPr>
          <p:cNvPr id="33" name="TextBox 32"/>
          <p:cNvSpPr txBox="1"/>
          <p:nvPr/>
        </p:nvSpPr>
        <p:spPr>
          <a:xfrm>
            <a:off x="548640" y="6172200"/>
            <a:ext cx="10972800" cy="27432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Όλα ανοιχτού κώδικα — καμία εμπορική εξάρτηση.</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ΔΕΔΟΜΈΝΑ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Πηγές δεδομένων &amp; αξιοπιστία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7</a:t>
            </a:r>
          </a:p>
        </p:txBody>
      </p:sp>
      <p:sp>
        <p:nvSpPr>
          <p:cNvPr id="9" name="Rectangle 8"/>
          <p:cNvSpPr/>
          <p:nvPr/>
        </p:nvSpPr>
        <p:spPr>
          <a:xfrm>
            <a:off x="548640" y="1645920"/>
            <a:ext cx="8595360" cy="457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45920"/>
            <a:ext cx="274320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Πηγή</a:t>
            </a:r>
          </a:p>
        </p:txBody>
      </p:sp>
      <p:sp>
        <p:nvSpPr>
          <p:cNvPr id="11" name="TextBox 10"/>
          <p:cNvSpPr txBox="1"/>
          <p:nvPr/>
        </p:nvSpPr>
        <p:spPr>
          <a:xfrm>
            <a:off x="3291840" y="1645920"/>
            <a:ext cx="274320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Κατηγορία</a:t>
            </a:r>
          </a:p>
        </p:txBody>
      </p:sp>
      <p:sp>
        <p:nvSpPr>
          <p:cNvPr id="12" name="TextBox 11"/>
          <p:cNvSpPr txBox="1"/>
          <p:nvPr/>
        </p:nvSpPr>
        <p:spPr>
          <a:xfrm>
            <a:off x="6035040" y="1645920"/>
            <a:ext cx="146304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Αξιοπιστία</a:t>
            </a:r>
          </a:p>
        </p:txBody>
      </p:sp>
      <p:sp>
        <p:nvSpPr>
          <p:cNvPr id="13" name="TextBox 12"/>
          <p:cNvSpPr txBox="1"/>
          <p:nvPr/>
        </p:nvSpPr>
        <p:spPr>
          <a:xfrm>
            <a:off x="7498079" y="1645920"/>
            <a:ext cx="1645920" cy="457200"/>
          </a:xfrm>
          <a:prstGeom prst="rect">
            <a:avLst/>
          </a:prstGeom>
          <a:noFill/>
        </p:spPr>
        <p:txBody>
          <a:bodyPr wrap="square" anchor="ctr" lIns="54864" rIns="54864" tIns="27432" bIns="27432">
            <a:spAutoFit/>
          </a:bodyPr>
          <a:lstStyle/>
          <a:p>
            <a:pPr algn="ctr">
              <a:spcAft>
                <a:spcPts val="400"/>
              </a:spcAft>
            </a:pPr>
            <a:r>
              <a:rPr sz="1300" b="1" i="0">
                <a:solidFill>
                  <a:srgbClr val="FFFFFF"/>
                </a:solidFill>
                <a:latin typeface="Calibri"/>
              </a:rPr>
              <a:t>Έγγραφα</a:t>
            </a:r>
          </a:p>
        </p:txBody>
      </p:sp>
      <p:sp>
        <p:nvSpPr>
          <p:cNvPr id="14" name="Rectangle 13"/>
          <p:cNvSpPr/>
          <p:nvPr/>
        </p:nvSpPr>
        <p:spPr>
          <a:xfrm>
            <a:off x="548640" y="21031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1031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Alpha Vantage</a:t>
            </a:r>
          </a:p>
        </p:txBody>
      </p:sp>
      <p:sp>
        <p:nvSpPr>
          <p:cNvPr id="16" name="TextBox 15"/>
          <p:cNvSpPr txBox="1"/>
          <p:nvPr/>
        </p:nvSpPr>
        <p:spPr>
          <a:xfrm>
            <a:off x="3429000" y="21031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Ειδήσεις / API</a:t>
            </a:r>
          </a:p>
        </p:txBody>
      </p:sp>
      <p:sp>
        <p:nvSpPr>
          <p:cNvPr id="17" name="TextBox 16"/>
          <p:cNvSpPr txBox="1"/>
          <p:nvPr/>
        </p:nvSpPr>
        <p:spPr>
          <a:xfrm>
            <a:off x="6172200" y="21031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7D32"/>
                </a:solidFill>
                <a:latin typeface="Calibri"/>
              </a:rPr>
              <a:t>0.92</a:t>
            </a:r>
          </a:p>
        </p:txBody>
      </p:sp>
      <p:sp>
        <p:nvSpPr>
          <p:cNvPr id="18" name="TextBox 17"/>
          <p:cNvSpPr txBox="1"/>
          <p:nvPr/>
        </p:nvSpPr>
        <p:spPr>
          <a:xfrm>
            <a:off x="7635240" y="21031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13.521</a:t>
            </a:r>
          </a:p>
        </p:txBody>
      </p:sp>
      <p:sp>
        <p:nvSpPr>
          <p:cNvPr id="19" name="Rectangle 18"/>
          <p:cNvSpPr/>
          <p:nvPr/>
        </p:nvSpPr>
        <p:spPr>
          <a:xfrm>
            <a:off x="548640" y="25603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25603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CNBC</a:t>
            </a:r>
          </a:p>
        </p:txBody>
      </p:sp>
      <p:sp>
        <p:nvSpPr>
          <p:cNvPr id="21" name="TextBox 20"/>
          <p:cNvSpPr txBox="1"/>
          <p:nvPr/>
        </p:nvSpPr>
        <p:spPr>
          <a:xfrm>
            <a:off x="3429000" y="25603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22" name="TextBox 21"/>
          <p:cNvSpPr txBox="1"/>
          <p:nvPr/>
        </p:nvSpPr>
        <p:spPr>
          <a:xfrm>
            <a:off x="6172200" y="25603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7D32"/>
                </a:solidFill>
                <a:latin typeface="Calibri"/>
              </a:rPr>
              <a:t>0.90</a:t>
            </a:r>
          </a:p>
        </p:txBody>
      </p:sp>
      <p:sp>
        <p:nvSpPr>
          <p:cNvPr id="23" name="TextBox 22"/>
          <p:cNvSpPr txBox="1"/>
          <p:nvPr/>
        </p:nvSpPr>
        <p:spPr>
          <a:xfrm>
            <a:off x="7635240" y="25603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185</a:t>
            </a:r>
          </a:p>
        </p:txBody>
      </p:sp>
      <p:sp>
        <p:nvSpPr>
          <p:cNvPr id="24" name="Rectangle 23"/>
          <p:cNvSpPr/>
          <p:nvPr/>
        </p:nvSpPr>
        <p:spPr>
          <a:xfrm>
            <a:off x="548640" y="30175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0175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Yahoo Finance</a:t>
            </a:r>
          </a:p>
        </p:txBody>
      </p:sp>
      <p:sp>
        <p:nvSpPr>
          <p:cNvPr id="26" name="TextBox 25"/>
          <p:cNvSpPr txBox="1"/>
          <p:nvPr/>
        </p:nvSpPr>
        <p:spPr>
          <a:xfrm>
            <a:off x="3429000" y="30175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Πλατφόρμα</a:t>
            </a:r>
          </a:p>
        </p:txBody>
      </p:sp>
      <p:sp>
        <p:nvSpPr>
          <p:cNvPr id="27" name="TextBox 26"/>
          <p:cNvSpPr txBox="1"/>
          <p:nvPr/>
        </p:nvSpPr>
        <p:spPr>
          <a:xfrm>
            <a:off x="6172200" y="30175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6FB7"/>
                </a:solidFill>
                <a:latin typeface="Calibri"/>
              </a:rPr>
              <a:t>0.85</a:t>
            </a:r>
          </a:p>
        </p:txBody>
      </p:sp>
      <p:sp>
        <p:nvSpPr>
          <p:cNvPr id="28" name="TextBox 27"/>
          <p:cNvSpPr txBox="1"/>
          <p:nvPr/>
        </p:nvSpPr>
        <p:spPr>
          <a:xfrm>
            <a:off x="7635240" y="30175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3.155</a:t>
            </a:r>
          </a:p>
        </p:txBody>
      </p:sp>
      <p:sp>
        <p:nvSpPr>
          <p:cNvPr id="29" name="Rectangle 28"/>
          <p:cNvSpPr/>
          <p:nvPr/>
        </p:nvSpPr>
        <p:spPr>
          <a:xfrm>
            <a:off x="548640" y="34747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747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Benzinga</a:t>
            </a:r>
          </a:p>
        </p:txBody>
      </p:sp>
      <p:sp>
        <p:nvSpPr>
          <p:cNvPr id="31" name="TextBox 30"/>
          <p:cNvSpPr txBox="1"/>
          <p:nvPr/>
        </p:nvSpPr>
        <p:spPr>
          <a:xfrm>
            <a:off x="3429000" y="34747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32" name="TextBox 31"/>
          <p:cNvSpPr txBox="1"/>
          <p:nvPr/>
        </p:nvSpPr>
        <p:spPr>
          <a:xfrm>
            <a:off x="6172200" y="34747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2E6FB7"/>
                </a:solidFill>
                <a:latin typeface="Calibri"/>
              </a:rPr>
              <a:t>0.85</a:t>
            </a:r>
          </a:p>
        </p:txBody>
      </p:sp>
      <p:sp>
        <p:nvSpPr>
          <p:cNvPr id="33" name="TextBox 32"/>
          <p:cNvSpPr txBox="1"/>
          <p:nvPr/>
        </p:nvSpPr>
        <p:spPr>
          <a:xfrm>
            <a:off x="7635240" y="34747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85</a:t>
            </a:r>
          </a:p>
        </p:txBody>
      </p:sp>
      <p:sp>
        <p:nvSpPr>
          <p:cNvPr id="34" name="Rectangle 33"/>
          <p:cNvSpPr/>
          <p:nvPr/>
        </p:nvSpPr>
        <p:spPr>
          <a:xfrm>
            <a:off x="548640" y="39319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39319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Finviz</a:t>
            </a:r>
          </a:p>
        </p:txBody>
      </p:sp>
      <p:sp>
        <p:nvSpPr>
          <p:cNvPr id="36" name="TextBox 35"/>
          <p:cNvSpPr txBox="1"/>
          <p:nvPr/>
        </p:nvSpPr>
        <p:spPr>
          <a:xfrm>
            <a:off x="3429000" y="39319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Πλατφόρμα</a:t>
            </a:r>
          </a:p>
        </p:txBody>
      </p:sp>
      <p:sp>
        <p:nvSpPr>
          <p:cNvPr id="37" name="TextBox 36"/>
          <p:cNvSpPr txBox="1"/>
          <p:nvPr/>
        </p:nvSpPr>
        <p:spPr>
          <a:xfrm>
            <a:off x="6172200" y="39319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8861E"/>
                </a:solidFill>
                <a:latin typeface="Calibri"/>
              </a:rPr>
              <a:t>0.80</a:t>
            </a:r>
          </a:p>
        </p:txBody>
      </p:sp>
      <p:sp>
        <p:nvSpPr>
          <p:cNvPr id="38" name="TextBox 37"/>
          <p:cNvSpPr txBox="1"/>
          <p:nvPr/>
        </p:nvSpPr>
        <p:spPr>
          <a:xfrm>
            <a:off x="7635240" y="39319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9.149</a:t>
            </a:r>
          </a:p>
        </p:txBody>
      </p:sp>
      <p:sp>
        <p:nvSpPr>
          <p:cNvPr id="39" name="Rectangle 38"/>
          <p:cNvSpPr/>
          <p:nvPr/>
        </p:nvSpPr>
        <p:spPr>
          <a:xfrm>
            <a:off x="548640" y="4389120"/>
            <a:ext cx="8595360" cy="457200"/>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3891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MarketWatch</a:t>
            </a:r>
          </a:p>
        </p:txBody>
      </p:sp>
      <p:sp>
        <p:nvSpPr>
          <p:cNvPr id="41" name="TextBox 40"/>
          <p:cNvSpPr txBox="1"/>
          <p:nvPr/>
        </p:nvSpPr>
        <p:spPr>
          <a:xfrm>
            <a:off x="3429000" y="43891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Ειδησεογραφική</a:t>
            </a:r>
          </a:p>
        </p:txBody>
      </p:sp>
      <p:sp>
        <p:nvSpPr>
          <p:cNvPr id="42" name="TextBox 41"/>
          <p:cNvSpPr txBox="1"/>
          <p:nvPr/>
        </p:nvSpPr>
        <p:spPr>
          <a:xfrm>
            <a:off x="6172200" y="43891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8861E"/>
                </a:solidFill>
                <a:latin typeface="Calibri"/>
              </a:rPr>
              <a:t>0.80</a:t>
            </a:r>
          </a:p>
        </p:txBody>
      </p:sp>
      <p:sp>
        <p:nvSpPr>
          <p:cNvPr id="43" name="TextBox 42"/>
          <p:cNvSpPr txBox="1"/>
          <p:nvPr/>
        </p:nvSpPr>
        <p:spPr>
          <a:xfrm>
            <a:off x="7635240" y="43891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2.845</a:t>
            </a:r>
          </a:p>
        </p:txBody>
      </p:sp>
      <p:sp>
        <p:nvSpPr>
          <p:cNvPr id="44" name="Rectangle 43"/>
          <p:cNvSpPr/>
          <p:nvPr/>
        </p:nvSpPr>
        <p:spPr>
          <a:xfrm>
            <a:off x="548640" y="4846320"/>
            <a:ext cx="8595360" cy="457200"/>
          </a:xfrm>
          <a:prstGeom prst="rect">
            <a:avLst/>
          </a:prstGeom>
          <a:solidFill>
            <a:srgbClr val="F5F8FC"/>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4846320"/>
            <a:ext cx="2560320" cy="457200"/>
          </a:xfrm>
          <a:prstGeom prst="rect">
            <a:avLst/>
          </a:prstGeom>
          <a:noFill/>
        </p:spPr>
        <p:txBody>
          <a:bodyPr wrap="square" anchor="ctr" lIns="54864" rIns="54864" tIns="27432" bIns="27432">
            <a:spAutoFit/>
          </a:bodyPr>
          <a:lstStyle/>
          <a:p>
            <a:pPr algn="l">
              <a:spcAft>
                <a:spcPts val="400"/>
              </a:spcAft>
            </a:pPr>
            <a:r>
              <a:rPr sz="1250" b="1" i="0">
                <a:solidFill>
                  <a:srgbClr val="202733"/>
                </a:solidFill>
                <a:latin typeface="Calibri"/>
              </a:rPr>
              <a:t>Reddit</a:t>
            </a:r>
          </a:p>
        </p:txBody>
      </p:sp>
      <p:sp>
        <p:nvSpPr>
          <p:cNvPr id="46" name="TextBox 45"/>
          <p:cNvSpPr txBox="1"/>
          <p:nvPr/>
        </p:nvSpPr>
        <p:spPr>
          <a:xfrm>
            <a:off x="3429000" y="4846320"/>
            <a:ext cx="2560320" cy="457200"/>
          </a:xfrm>
          <a:prstGeom prst="rect">
            <a:avLst/>
          </a:prstGeom>
          <a:noFill/>
        </p:spPr>
        <p:txBody>
          <a:bodyPr wrap="square" anchor="ctr" lIns="54864" rIns="54864" tIns="27432" bIns="27432">
            <a:spAutoFit/>
          </a:bodyPr>
          <a:lstStyle/>
          <a:p>
            <a:pPr algn="ctr">
              <a:spcAft>
                <a:spcPts val="400"/>
              </a:spcAft>
            </a:pPr>
            <a:r>
              <a:rPr sz="1250" b="0" i="0">
                <a:solidFill>
                  <a:srgbClr val="5A6370"/>
                </a:solidFill>
                <a:latin typeface="Calibri"/>
              </a:rPr>
              <a:t>Κοινωνικό δίκτυο</a:t>
            </a:r>
          </a:p>
        </p:txBody>
      </p:sp>
      <p:sp>
        <p:nvSpPr>
          <p:cNvPr id="47" name="TextBox 46"/>
          <p:cNvSpPr txBox="1"/>
          <p:nvPr/>
        </p:nvSpPr>
        <p:spPr>
          <a:xfrm>
            <a:off x="6172200" y="4846320"/>
            <a:ext cx="1280160" cy="457200"/>
          </a:xfrm>
          <a:prstGeom prst="rect">
            <a:avLst/>
          </a:prstGeom>
          <a:noFill/>
        </p:spPr>
        <p:txBody>
          <a:bodyPr wrap="square" anchor="ctr" lIns="54864" rIns="54864" tIns="27432" bIns="27432">
            <a:spAutoFit/>
          </a:bodyPr>
          <a:lstStyle/>
          <a:p>
            <a:pPr algn="ctr">
              <a:spcAft>
                <a:spcPts val="400"/>
              </a:spcAft>
            </a:pPr>
            <a:r>
              <a:rPr sz="1250" b="1" i="0">
                <a:solidFill>
                  <a:srgbClr val="C03939"/>
                </a:solidFill>
                <a:latin typeface="Calibri"/>
              </a:rPr>
              <a:t>0.60</a:t>
            </a:r>
          </a:p>
        </p:txBody>
      </p:sp>
      <p:sp>
        <p:nvSpPr>
          <p:cNvPr id="48" name="TextBox 47"/>
          <p:cNvSpPr txBox="1"/>
          <p:nvPr/>
        </p:nvSpPr>
        <p:spPr>
          <a:xfrm>
            <a:off x="7635240" y="4846320"/>
            <a:ext cx="1463040" cy="457200"/>
          </a:xfrm>
          <a:prstGeom prst="rect">
            <a:avLst/>
          </a:prstGeom>
          <a:noFill/>
        </p:spPr>
        <p:txBody>
          <a:bodyPr wrap="square" anchor="ctr" lIns="54864" rIns="54864" tIns="27432" bIns="27432">
            <a:spAutoFit/>
          </a:bodyPr>
          <a:lstStyle/>
          <a:p>
            <a:pPr algn="ctr">
              <a:spcAft>
                <a:spcPts val="400"/>
              </a:spcAft>
            </a:pPr>
            <a:r>
              <a:rPr sz="1250" b="0" i="0">
                <a:solidFill>
                  <a:srgbClr val="202733"/>
                </a:solidFill>
                <a:latin typeface="Calibri"/>
              </a:rPr>
              <a:t>2.309</a:t>
            </a:r>
          </a:p>
        </p:txBody>
      </p:sp>
      <p:sp>
        <p:nvSpPr>
          <p:cNvPr id="49" name="Rounded Rectangle 48"/>
          <p:cNvSpPr/>
          <p:nvPr/>
        </p:nvSpPr>
        <p:spPr>
          <a:xfrm>
            <a:off x="9326880" y="1645920"/>
            <a:ext cx="2331720" cy="1051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26880" y="1645920"/>
            <a:ext cx="82296" cy="10515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36607" y="1737360"/>
            <a:ext cx="2148839" cy="609904"/>
          </a:xfrm>
          <a:prstGeom prst="rect">
            <a:avLst/>
          </a:prstGeom>
          <a:noFill/>
        </p:spPr>
        <p:txBody>
          <a:bodyPr wrap="square" anchor="ctr" lIns="54864" rIns="54864" tIns="27432" bIns="27432">
            <a:spAutoFit/>
          </a:bodyPr>
          <a:lstStyle/>
          <a:p>
            <a:pPr algn="l">
              <a:spcAft>
                <a:spcPts val="400"/>
              </a:spcAft>
            </a:pPr>
            <a:r>
              <a:rPr sz="3000" b="1" i="0">
                <a:solidFill>
                  <a:srgbClr val="148F88"/>
                </a:solidFill>
                <a:latin typeface="Calibri"/>
              </a:rPr>
              <a:t>~31.250</a:t>
            </a:r>
          </a:p>
        </p:txBody>
      </p:sp>
      <p:sp>
        <p:nvSpPr>
          <p:cNvPr id="52" name="TextBox 51"/>
          <p:cNvSpPr txBox="1"/>
          <p:nvPr/>
        </p:nvSpPr>
        <p:spPr>
          <a:xfrm>
            <a:off x="9473184" y="2276856"/>
            <a:ext cx="2075687" cy="378561"/>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συνολικά έγγραφα</a:t>
            </a:r>
          </a:p>
        </p:txBody>
      </p:sp>
      <p:sp>
        <p:nvSpPr>
          <p:cNvPr id="53" name="Rounded Rectangle 52"/>
          <p:cNvSpPr/>
          <p:nvPr/>
        </p:nvSpPr>
        <p:spPr>
          <a:xfrm>
            <a:off x="9326880" y="2834640"/>
            <a:ext cx="2331720" cy="10515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326880" y="2834640"/>
            <a:ext cx="82296" cy="10515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436607" y="2926080"/>
            <a:ext cx="2148839" cy="609904"/>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12</a:t>
            </a:r>
          </a:p>
        </p:txBody>
      </p:sp>
      <p:sp>
        <p:nvSpPr>
          <p:cNvPr id="56" name="TextBox 55"/>
          <p:cNvSpPr txBox="1"/>
          <p:nvPr/>
        </p:nvSpPr>
        <p:spPr>
          <a:xfrm>
            <a:off x="9473184" y="3465576"/>
            <a:ext cx="2075687" cy="378561"/>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δείκτες (10 μετοχές+2 ETF)</a:t>
            </a:r>
          </a:p>
        </p:txBody>
      </p:sp>
      <p:sp>
        <p:nvSpPr>
          <p:cNvPr id="57" name="Rounded Rectangle 56"/>
          <p:cNvSpPr/>
          <p:nvPr/>
        </p:nvSpPr>
        <p:spPr>
          <a:xfrm>
            <a:off x="9326880" y="4023360"/>
            <a:ext cx="2331720" cy="169164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64040" y="4114800"/>
            <a:ext cx="2103120" cy="1554480"/>
          </a:xfrm>
          <a:prstGeom prst="rect">
            <a:avLst/>
          </a:prstGeom>
          <a:noFill/>
        </p:spPr>
        <p:txBody>
          <a:bodyPr wrap="square" anchor="ctr" lIns="54864" rIns="54864" tIns="27432" bIns="27432">
            <a:spAutoFit/>
          </a:bodyPr>
          <a:lstStyle/>
          <a:p>
            <a:pPr algn="l">
              <a:spcAft>
                <a:spcPts val="400"/>
              </a:spcAft>
            </a:pPr>
            <a:r>
              <a:rPr sz="1200" b="0" i="0">
                <a:solidFill>
                  <a:srgbClr val="142E54"/>
                </a:solidFill>
                <a:latin typeface="Calibri"/>
              </a:rPr>
              <a:t>Αξιοπιστία = βαθμός εγκυρότητας πηγής (0–1). Χρήση: βάρος στη συνάθροιση + χαρακτηριστικό εισόδου.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NLP</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Ανάλυση συναισθήματος με FinBERT</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8</a:t>
            </a:r>
          </a:p>
        </p:txBody>
      </p:sp>
      <p:sp>
        <p:nvSpPr>
          <p:cNvPr id="9" name="TextBox 8"/>
          <p:cNvSpPr txBox="1"/>
          <p:nvPr/>
        </p:nvSpPr>
        <p:spPr>
          <a:xfrm>
            <a:off x="548640" y="1691640"/>
            <a:ext cx="5669280" cy="4114800"/>
          </a:xfrm>
          <a:prstGeom prst="rect">
            <a:avLst/>
          </a:prstGeom>
          <a:noFill/>
        </p:spPr>
        <p:txBody>
          <a:bodyPr wrap="square">
            <a:spAutoFit/>
          </a:bodyPr>
          <a:lstStyle/>
          <a:p>
            <a:pPr>
              <a:spcAft>
                <a:spcPts val="1300"/>
              </a:spcAft>
            </a:pPr>
            <a:r>
              <a:rPr sz="1600" b="1" i="0">
                <a:solidFill>
                  <a:srgbClr val="148F88"/>
                </a:solidFill>
                <a:latin typeface="Calibri"/>
              </a:rPr>
              <a:t>▸ </a:t>
            </a:r>
            <a:r>
              <a:rPr sz="1600" b="1" i="0">
                <a:solidFill>
                  <a:srgbClr val="202733"/>
                </a:solidFill>
                <a:latin typeface="Calibri"/>
              </a:rPr>
              <a:t>FinBERT: </a:t>
            </a:r>
            <a:r>
              <a:rPr sz="1600" b="0" i="0">
                <a:solidFill>
                  <a:srgbClr val="202733"/>
                </a:solidFill>
                <a:latin typeface="Calibri"/>
              </a:rPr>
              <a:t>BERT εκπαιδευμένο σε χρηματοοικονομικά κείμενα</a:t>
            </a:r>
          </a:p>
          <a:p>
            <a:pPr>
              <a:spcAft>
                <a:spcPts val="1300"/>
              </a:spcAft>
            </a:pPr>
            <a:r>
              <a:rPr sz="1600" b="1" i="0">
                <a:solidFill>
                  <a:srgbClr val="148F88"/>
                </a:solidFill>
                <a:latin typeface="Calibri"/>
              </a:rPr>
              <a:t>▸ </a:t>
            </a:r>
            <a:r>
              <a:rPr sz="1600" b="1" i="0">
                <a:solidFill>
                  <a:srgbClr val="202733"/>
                </a:solidFill>
                <a:latin typeface="Calibri"/>
              </a:rPr>
              <a:t>Γιατί εξειδικευμένο; </a:t>
            </a:r>
            <a:r>
              <a:rPr sz="1600" b="0" i="0">
                <a:solidFill>
                  <a:srgbClr val="202733"/>
                </a:solidFill>
                <a:latin typeface="Calibri"/>
              </a:rPr>
              <a:t>η γλώσσα των οικονομικών είναι ιδιαίτερη</a:t>
            </a:r>
          </a:p>
          <a:p>
            <a:pPr>
              <a:spcAft>
                <a:spcPts val="1300"/>
              </a:spcAft>
            </a:pPr>
            <a:r>
              <a:rPr sz="1600" b="1" i="0">
                <a:solidFill>
                  <a:srgbClr val="148F88"/>
                </a:solidFill>
                <a:latin typeface="Calibri"/>
              </a:rPr>
              <a:t>▸ </a:t>
            </a:r>
            <a:r>
              <a:rPr sz="1600" b="1" i="0">
                <a:solidFill>
                  <a:srgbClr val="202733"/>
                </a:solidFill>
                <a:latin typeface="Calibri"/>
              </a:rPr>
              <a:t>Σκορ ανά έγγραφο: </a:t>
            </a:r>
            <a:r>
              <a:rPr sz="1600" b="0" i="0">
                <a:solidFill>
                  <a:srgbClr val="202733"/>
                </a:solidFill>
                <a:latin typeface="Calibri"/>
              </a:rPr>
              <a:t>P(θετικό) − P(αρνητικό) ∈ [−1, 1]</a:t>
            </a:r>
          </a:p>
          <a:p>
            <a:pPr>
              <a:spcAft>
                <a:spcPts val="1300"/>
              </a:spcAft>
            </a:pPr>
            <a:r>
              <a:rPr sz="1600" b="1" i="0">
                <a:solidFill>
                  <a:srgbClr val="148F88"/>
                </a:solidFill>
                <a:latin typeface="Calibri"/>
              </a:rPr>
              <a:t>▸ </a:t>
            </a:r>
            <a:r>
              <a:rPr sz="1600" b="1" i="0">
                <a:solidFill>
                  <a:srgbClr val="202733"/>
                </a:solidFill>
                <a:latin typeface="Calibri"/>
              </a:rPr>
              <a:t>Σταθμισμένη συνάθροιση </a:t>
            </a:r>
            <a:r>
              <a:rPr sz="1600" b="0" i="0">
                <a:solidFill>
                  <a:srgbClr val="202733"/>
                </a:solidFill>
                <a:latin typeface="Calibri"/>
              </a:rPr>
              <a:t>ανά ημέρα &amp; δείκτη</a:t>
            </a:r>
          </a:p>
          <a:p>
            <a:pPr>
              <a:spcAft>
                <a:spcPts val="1300"/>
              </a:spcAft>
            </a:pPr>
            <a:r>
              <a:rPr sz="1600" b="1" i="0">
                <a:solidFill>
                  <a:srgbClr val="148F88"/>
                </a:solidFill>
                <a:latin typeface="Calibri"/>
              </a:rPr>
              <a:t>▸ </a:t>
            </a:r>
            <a:r>
              <a:rPr sz="1600" b="1" i="0">
                <a:solidFill>
                  <a:srgbClr val="202733"/>
                </a:solidFill>
                <a:latin typeface="Calibri"/>
              </a:rPr>
              <a:t>Βάρος = αξιοπιστία πηγής </a:t>
            </a:r>
            <a:r>
              <a:rPr sz="1600" b="0" i="0">
                <a:solidFill>
                  <a:srgbClr val="202733"/>
                </a:solidFill>
                <a:latin typeface="Calibri"/>
              </a:rPr>
              <a:t>→ αξιόπιστες πηγές μετρούν περισσότερο</a:t>
            </a:r>
          </a:p>
        </p:txBody>
      </p:sp>
      <p:sp>
        <p:nvSpPr>
          <p:cNvPr id="10" name="Rounded Rectangle 9"/>
          <p:cNvSpPr/>
          <p:nvPr/>
        </p:nvSpPr>
        <p:spPr>
          <a:xfrm>
            <a:off x="6400800" y="1737360"/>
            <a:ext cx="5212080" cy="182880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874519"/>
            <a:ext cx="4846320" cy="1645920"/>
          </a:xfrm>
          <a:prstGeom prst="rect">
            <a:avLst/>
          </a:prstGeom>
          <a:noFill/>
        </p:spPr>
        <p:txBody>
          <a:bodyPr wrap="square" anchor="ctr" lIns="54864" rIns="54864" tIns="27432" bIns="27432">
            <a:spAutoFit/>
          </a:bodyPr>
          <a:lstStyle/>
          <a:p>
            <a:pPr algn="l">
              <a:spcAft>
                <a:spcPts val="600"/>
              </a:spcAft>
            </a:pPr>
            <a:r>
              <a:rPr sz="1400" b="1" i="0">
                <a:solidFill>
                  <a:srgbClr val="7FD1C8"/>
                </a:solidFill>
                <a:latin typeface="Calibri"/>
              </a:rPr>
              <a:t>Σταθμισμένος μέσος όρος</a:t>
            </a:r>
          </a:p>
          <a:p>
            <a:pPr algn="l">
              <a:spcAft>
                <a:spcPts val="600"/>
              </a:spcAft>
            </a:pPr>
            <a:r>
              <a:rPr sz="1700" b="1" i="0">
                <a:solidFill>
                  <a:srgbClr val="FFFFFF"/>
                </a:solidFill>
                <a:latin typeface="Consolas"/>
              </a:rPr>
              <a:t>sent_mean = Σ(wᵢ · sᵢ) / Σ wᵢ</a:t>
            </a:r>
          </a:p>
          <a:p>
            <a:pPr algn="l">
              <a:spcAft>
                <a:spcPts val="400"/>
              </a:spcAft>
            </a:pPr>
            <a:r>
              <a:rPr sz="1250" b="0" i="0">
                <a:solidFill>
                  <a:srgbClr val="C9D7EA"/>
                </a:solidFill>
                <a:latin typeface="Calibri"/>
              </a:rPr>
              <a:t>όπου w = αξιοπιστία,  s = σκορ FinBERT</a:t>
            </a:r>
          </a:p>
        </p:txBody>
      </p:sp>
      <p:sp>
        <p:nvSpPr>
          <p:cNvPr id="12" name="Rounded Rectangle 11"/>
          <p:cNvSpPr/>
          <p:nvPr/>
        </p:nvSpPr>
        <p:spPr>
          <a:xfrm>
            <a:off x="6400800" y="3749039"/>
            <a:ext cx="5212080" cy="201168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3886200"/>
            <a:ext cx="4846320" cy="1828800"/>
          </a:xfrm>
          <a:prstGeom prst="rect">
            <a:avLst/>
          </a:prstGeom>
          <a:noFill/>
        </p:spPr>
        <p:txBody>
          <a:bodyPr wrap="square" anchor="ctr" lIns="54864" rIns="54864" tIns="27432" bIns="27432">
            <a:spAutoFit/>
          </a:bodyPr>
          <a:lstStyle/>
          <a:p>
            <a:pPr algn="l">
              <a:spcAft>
                <a:spcPts val="600"/>
              </a:spcAft>
            </a:pPr>
            <a:r>
              <a:rPr sz="1400" b="1" i="0">
                <a:solidFill>
                  <a:srgbClr val="142E54"/>
                </a:solidFill>
                <a:latin typeface="Calibri"/>
              </a:rPr>
              <a:t>9 χαρακτηριστικά συναισθήματος:</a:t>
            </a:r>
          </a:p>
          <a:p>
            <a:pPr algn="l">
              <a:spcAft>
                <a:spcPts val="400"/>
              </a:spcAft>
            </a:pPr>
            <a:r>
              <a:rPr sz="1300" b="0" i="0">
                <a:solidFill>
                  <a:srgbClr val="202733"/>
                </a:solidFill>
                <a:latin typeface="Calibri"/>
              </a:rPr>
              <a:t>μέση τιμή, τυπ. απόκλιση, πλήθος, αξιοπιστία, χρονικές υστερήσεις (lags), κυλιόμενοι μέσοι 3/7 ημερών, ορμή συναισθήματος.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ΜΗΧΑΝΙΚΉ ΧΑΡΑΚΤΗΡΙΣΤΙΚΏΝ</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28 χαρακτηριστικά σε 6 ομάδες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9</a:t>
            </a:r>
          </a:p>
        </p:txBody>
      </p:sp>
      <p:sp>
        <p:nvSpPr>
          <p:cNvPr id="9" name="Rounded Rectangle 8"/>
          <p:cNvSpPr/>
          <p:nvPr/>
        </p:nvSpPr>
        <p:spPr>
          <a:xfrm>
            <a:off x="548640"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77240" cy="16002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5</a:t>
            </a:r>
          </a:p>
        </p:txBody>
      </p:sp>
      <p:sp>
        <p:nvSpPr>
          <p:cNvPr id="12" name="TextBox 11"/>
          <p:cNvSpPr txBox="1"/>
          <p:nvPr/>
        </p:nvSpPr>
        <p:spPr>
          <a:xfrm>
            <a:off x="1417319"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Τιμές (OHLCV)</a:t>
            </a:r>
          </a:p>
        </p:txBody>
      </p:sp>
      <p:sp>
        <p:nvSpPr>
          <p:cNvPr id="13" name="TextBox 12"/>
          <p:cNvSpPr txBox="1"/>
          <p:nvPr/>
        </p:nvSpPr>
        <p:spPr>
          <a:xfrm>
            <a:off x="1435607"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Open, High, Low, Close, Volume</a:t>
            </a:r>
          </a:p>
        </p:txBody>
      </p:sp>
      <p:sp>
        <p:nvSpPr>
          <p:cNvPr id="14" name="Rounded Rectangle 13"/>
          <p:cNvSpPr/>
          <p:nvPr/>
        </p:nvSpPr>
        <p:spPr>
          <a:xfrm>
            <a:off x="4288536"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8536" y="1691640"/>
            <a:ext cx="777240" cy="160020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88536"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6</a:t>
            </a:r>
          </a:p>
        </p:txBody>
      </p:sp>
      <p:sp>
        <p:nvSpPr>
          <p:cNvPr id="17" name="TextBox 16"/>
          <p:cNvSpPr txBox="1"/>
          <p:nvPr/>
        </p:nvSpPr>
        <p:spPr>
          <a:xfrm>
            <a:off x="5157216"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Τεχνικοί δείκτες</a:t>
            </a:r>
          </a:p>
        </p:txBody>
      </p:sp>
      <p:sp>
        <p:nvSpPr>
          <p:cNvPr id="18" name="TextBox 17"/>
          <p:cNvSpPr txBox="1"/>
          <p:nvPr/>
        </p:nvSpPr>
        <p:spPr>
          <a:xfrm>
            <a:off x="5175503"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MA5/10, Momentum, Returns, lags</a:t>
            </a:r>
          </a:p>
        </p:txBody>
      </p:sp>
      <p:sp>
        <p:nvSpPr>
          <p:cNvPr id="19" name="Rounded Rectangle 18"/>
          <p:cNvSpPr/>
          <p:nvPr/>
        </p:nvSpPr>
        <p:spPr>
          <a:xfrm>
            <a:off x="8028431" y="1691640"/>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28431" y="1691640"/>
            <a:ext cx="777240" cy="16002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1691640"/>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3</a:t>
            </a:r>
          </a:p>
        </p:txBody>
      </p:sp>
      <p:sp>
        <p:nvSpPr>
          <p:cNvPr id="22" name="TextBox 21"/>
          <p:cNvSpPr txBox="1"/>
          <p:nvPr/>
        </p:nvSpPr>
        <p:spPr>
          <a:xfrm>
            <a:off x="8897111" y="1856232"/>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Ταλαντωτές</a:t>
            </a:r>
          </a:p>
        </p:txBody>
      </p:sp>
      <p:sp>
        <p:nvSpPr>
          <p:cNvPr id="23" name="TextBox 22"/>
          <p:cNvSpPr txBox="1"/>
          <p:nvPr/>
        </p:nvSpPr>
        <p:spPr>
          <a:xfrm>
            <a:off x="8915400" y="2404872"/>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RSI14, MACD, MACD signal</a:t>
            </a:r>
          </a:p>
        </p:txBody>
      </p:sp>
      <p:sp>
        <p:nvSpPr>
          <p:cNvPr id="24" name="Rounded Rectangle 23"/>
          <p:cNvSpPr/>
          <p:nvPr/>
        </p:nvSpPr>
        <p:spPr>
          <a:xfrm>
            <a:off x="548640"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456432"/>
            <a:ext cx="777240" cy="1600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2</a:t>
            </a:r>
          </a:p>
        </p:txBody>
      </p:sp>
      <p:sp>
        <p:nvSpPr>
          <p:cNvPr id="27" name="TextBox 26"/>
          <p:cNvSpPr txBox="1"/>
          <p:nvPr/>
        </p:nvSpPr>
        <p:spPr>
          <a:xfrm>
            <a:off x="1417319"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Μεταβλητότητα</a:t>
            </a:r>
          </a:p>
        </p:txBody>
      </p:sp>
      <p:sp>
        <p:nvSpPr>
          <p:cNvPr id="28" name="TextBox 27"/>
          <p:cNvSpPr txBox="1"/>
          <p:nvPr/>
        </p:nvSpPr>
        <p:spPr>
          <a:xfrm>
            <a:off x="1435607"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Volatility5, Bollinger %</a:t>
            </a:r>
          </a:p>
        </p:txBody>
      </p:sp>
      <p:sp>
        <p:nvSpPr>
          <p:cNvPr id="29" name="Rounded Rectangle 28"/>
          <p:cNvSpPr/>
          <p:nvPr/>
        </p:nvSpPr>
        <p:spPr>
          <a:xfrm>
            <a:off x="4288536"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88536" y="3456432"/>
            <a:ext cx="777240" cy="16002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88536"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3</a:t>
            </a:r>
          </a:p>
        </p:txBody>
      </p:sp>
      <p:sp>
        <p:nvSpPr>
          <p:cNvPr id="32" name="TextBox 31"/>
          <p:cNvSpPr txBox="1"/>
          <p:nvPr/>
        </p:nvSpPr>
        <p:spPr>
          <a:xfrm>
            <a:off x="5157216"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Όγκος</a:t>
            </a:r>
          </a:p>
        </p:txBody>
      </p:sp>
      <p:sp>
        <p:nvSpPr>
          <p:cNvPr id="33" name="TextBox 32"/>
          <p:cNvSpPr txBox="1"/>
          <p:nvPr/>
        </p:nvSpPr>
        <p:spPr>
          <a:xfrm>
            <a:off x="5175503"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Volume ratio, High/Low ratio</a:t>
            </a:r>
          </a:p>
        </p:txBody>
      </p:sp>
      <p:sp>
        <p:nvSpPr>
          <p:cNvPr id="34" name="Rounded Rectangle 33"/>
          <p:cNvSpPr/>
          <p:nvPr/>
        </p:nvSpPr>
        <p:spPr>
          <a:xfrm>
            <a:off x="8028431" y="3456432"/>
            <a:ext cx="3611880" cy="16002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28431" y="3456432"/>
            <a:ext cx="777240" cy="16002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1" y="3456432"/>
            <a:ext cx="777240" cy="1600200"/>
          </a:xfrm>
          <a:prstGeom prst="rect">
            <a:avLst/>
          </a:prstGeom>
          <a:noFill/>
        </p:spPr>
        <p:txBody>
          <a:bodyPr wrap="square" anchor="ctr" lIns="54864" rIns="54864" tIns="27432" bIns="27432">
            <a:spAutoFit/>
          </a:bodyPr>
          <a:lstStyle/>
          <a:p>
            <a:pPr algn="ctr">
              <a:spcAft>
                <a:spcPts val="400"/>
              </a:spcAft>
            </a:pPr>
            <a:r>
              <a:rPr sz="3000" b="1" i="0">
                <a:solidFill>
                  <a:srgbClr val="FFFFFF"/>
                </a:solidFill>
                <a:latin typeface="Calibri"/>
              </a:rPr>
              <a:t>9</a:t>
            </a:r>
          </a:p>
        </p:txBody>
      </p:sp>
      <p:sp>
        <p:nvSpPr>
          <p:cNvPr id="37" name="TextBox 36"/>
          <p:cNvSpPr txBox="1"/>
          <p:nvPr/>
        </p:nvSpPr>
        <p:spPr>
          <a:xfrm>
            <a:off x="8897111" y="3621024"/>
            <a:ext cx="2651760" cy="50292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Συναίσθημα (NLP)</a:t>
            </a:r>
          </a:p>
        </p:txBody>
      </p:sp>
      <p:sp>
        <p:nvSpPr>
          <p:cNvPr id="38" name="TextBox 37"/>
          <p:cNvSpPr txBox="1"/>
          <p:nvPr/>
        </p:nvSpPr>
        <p:spPr>
          <a:xfrm>
            <a:off x="8915400" y="4169664"/>
            <a:ext cx="2606040" cy="777240"/>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mean/std/count, lags, 3d/7d, ορμή, αξιοπιστία</a:t>
            </a:r>
          </a:p>
        </p:txBody>
      </p:sp>
      <p:sp>
        <p:nvSpPr>
          <p:cNvPr id="39" name="Rounded Rectangle 38"/>
          <p:cNvSpPr/>
          <p:nvPr/>
        </p:nvSpPr>
        <p:spPr>
          <a:xfrm>
            <a:off x="548640" y="5166360"/>
            <a:ext cx="11091672" cy="86868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5230368"/>
            <a:ext cx="10698480" cy="731520"/>
          </a:xfrm>
          <a:prstGeom prst="rect">
            <a:avLst/>
          </a:prstGeom>
          <a:noFill/>
        </p:spPr>
        <p:txBody>
          <a:bodyPr wrap="square" anchor="ctr" lIns="54864" rIns="54864" tIns="27432" bIns="27432">
            <a:spAutoFit/>
          </a:bodyPr>
          <a:lstStyle/>
          <a:p>
            <a:pPr algn="l">
              <a:spcAft>
                <a:spcPts val="400"/>
              </a:spcAft>
            </a:pPr>
            <a:r>
              <a:rPr sz="1500" b="1" i="0">
                <a:solidFill>
                  <a:srgbClr val="7FD1C8"/>
                </a:solidFill>
                <a:latin typeface="Calibri"/>
              </a:rPr>
              <a:t>Στόχος: </a:t>
            </a:r>
          </a:p>
          <a:p>
            <a:pPr algn="l">
              <a:spcAft>
                <a:spcPts val="400"/>
              </a:spcAft>
            </a:pPr>
            <a:r>
              <a:rPr sz="1500" b="0" i="0">
                <a:solidFill>
                  <a:srgbClr val="FFFFFF"/>
                </a:solidFill>
                <a:latin typeface="Calibri"/>
              </a:rPr>
              <a:t>Αγορά / Πώληση / Κράτηση — αν η απόδοση 5 ημερών ξεπερνά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ΜΗΧΑΝΙΚΉ ΜΆΘΗΣΗ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Τα 5 μοντέλα του ensemble</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10</a:t>
            </a:r>
          </a:p>
        </p:txBody>
      </p:sp>
      <p:sp>
        <p:nvSpPr>
          <p:cNvPr id="9" name="Rounded Rectangle 8"/>
          <p:cNvSpPr/>
          <p:nvPr/>
        </p:nvSpPr>
        <p:spPr>
          <a:xfrm>
            <a:off x="548640" y="1737360"/>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128016" cy="74980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737360"/>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Random Forest</a:t>
            </a:r>
          </a:p>
        </p:txBody>
      </p:sp>
      <p:sp>
        <p:nvSpPr>
          <p:cNvPr id="12" name="TextBox 11"/>
          <p:cNvSpPr txBox="1"/>
          <p:nvPr/>
        </p:nvSpPr>
        <p:spPr>
          <a:xfrm>
            <a:off x="4663440" y="1737360"/>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Bagging · 300 δέντρα, βάθος 12</a:t>
            </a:r>
          </a:p>
        </p:txBody>
      </p:sp>
      <p:sp>
        <p:nvSpPr>
          <p:cNvPr id="13" name="Rounded Rectangle 12"/>
          <p:cNvSpPr/>
          <p:nvPr/>
        </p:nvSpPr>
        <p:spPr>
          <a:xfrm>
            <a:off x="548640" y="2615184"/>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15184"/>
            <a:ext cx="128016" cy="74980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15184"/>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XGBoost</a:t>
            </a:r>
          </a:p>
        </p:txBody>
      </p:sp>
      <p:sp>
        <p:nvSpPr>
          <p:cNvPr id="16" name="TextBox 15"/>
          <p:cNvSpPr txBox="1"/>
          <p:nvPr/>
        </p:nvSpPr>
        <p:spPr>
          <a:xfrm>
            <a:off x="4663440" y="2615184"/>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Boosting · 400 δέντρα, lr 0.03</a:t>
            </a:r>
          </a:p>
        </p:txBody>
      </p:sp>
      <p:sp>
        <p:nvSpPr>
          <p:cNvPr id="17" name="Rounded Rectangle 16"/>
          <p:cNvSpPr/>
          <p:nvPr/>
        </p:nvSpPr>
        <p:spPr>
          <a:xfrm>
            <a:off x="548640" y="3493008"/>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493008"/>
            <a:ext cx="128016" cy="749808"/>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493008"/>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LightGBM</a:t>
            </a:r>
          </a:p>
        </p:txBody>
      </p:sp>
      <p:sp>
        <p:nvSpPr>
          <p:cNvPr id="20" name="TextBox 19"/>
          <p:cNvSpPr txBox="1"/>
          <p:nvPr/>
        </p:nvSpPr>
        <p:spPr>
          <a:xfrm>
            <a:off x="4663440" y="3493008"/>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Boosting (leaf-wise) · 400 δέντρα</a:t>
            </a:r>
          </a:p>
        </p:txBody>
      </p:sp>
      <p:sp>
        <p:nvSpPr>
          <p:cNvPr id="21" name="Rounded Rectangle 20"/>
          <p:cNvSpPr/>
          <p:nvPr/>
        </p:nvSpPr>
        <p:spPr>
          <a:xfrm>
            <a:off x="548640" y="4370831"/>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70831"/>
            <a:ext cx="128016" cy="7498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70831"/>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Logistic Regression</a:t>
            </a:r>
          </a:p>
        </p:txBody>
      </p:sp>
      <p:sp>
        <p:nvSpPr>
          <p:cNvPr id="24" name="TextBox 23"/>
          <p:cNvSpPr txBox="1"/>
          <p:nvPr/>
        </p:nvSpPr>
        <p:spPr>
          <a:xfrm>
            <a:off x="4663440" y="4370831"/>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Γραμμικό baseline · softmax</a:t>
            </a:r>
          </a:p>
        </p:txBody>
      </p:sp>
      <p:sp>
        <p:nvSpPr>
          <p:cNvPr id="25" name="Rounded Rectangle 24"/>
          <p:cNvSpPr/>
          <p:nvPr/>
        </p:nvSpPr>
        <p:spPr>
          <a:xfrm>
            <a:off x="548640" y="5248655"/>
            <a:ext cx="11091672" cy="74980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248655"/>
            <a:ext cx="128016" cy="749808"/>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248655"/>
            <a:ext cx="3657600" cy="749808"/>
          </a:xfrm>
          <a:prstGeom prst="rect">
            <a:avLst/>
          </a:prstGeom>
          <a:noFill/>
        </p:spPr>
        <p:txBody>
          <a:bodyPr wrap="square" anchor="ctr" lIns="54864" rIns="54864" tIns="27432" bIns="27432">
            <a:spAutoFit/>
          </a:bodyPr>
          <a:lstStyle/>
          <a:p>
            <a:pPr algn="l">
              <a:spcAft>
                <a:spcPts val="400"/>
              </a:spcAft>
            </a:pPr>
            <a:r>
              <a:rPr sz="1600" b="1" i="0">
                <a:solidFill>
                  <a:srgbClr val="142E54"/>
                </a:solidFill>
                <a:latin typeface="Calibri"/>
              </a:rPr>
              <a:t>LSTM</a:t>
            </a:r>
          </a:p>
        </p:txBody>
      </p:sp>
      <p:sp>
        <p:nvSpPr>
          <p:cNvPr id="28" name="TextBox 27"/>
          <p:cNvSpPr txBox="1"/>
          <p:nvPr/>
        </p:nvSpPr>
        <p:spPr>
          <a:xfrm>
            <a:off x="4663440" y="5248655"/>
            <a:ext cx="6766560" cy="749808"/>
          </a:xfrm>
          <a:prstGeom prst="rect">
            <a:avLst/>
          </a:prstGeom>
          <a:noFill/>
        </p:spPr>
        <p:txBody>
          <a:bodyPr wrap="square" anchor="ctr" lIns="54864" rIns="54864" tIns="27432" bIns="27432">
            <a:spAutoFit/>
          </a:bodyPr>
          <a:lstStyle/>
          <a:p>
            <a:pPr algn="l">
              <a:spcAft>
                <a:spcPts val="400"/>
              </a:spcAft>
            </a:pPr>
            <a:r>
              <a:rPr sz="1350" b="0" i="0">
                <a:solidFill>
                  <a:srgbClr val="5A6370"/>
                </a:solidFill>
                <a:latin typeface="Calibri"/>
              </a:rPr>
              <a:t>Νευρωνικό χρονοσειρών · 64→32, dropout 0.2</a:t>
            </a:r>
          </a:p>
        </p:txBody>
      </p:sp>
      <p:sp>
        <p:nvSpPr>
          <p:cNvPr id="29" name="Rounded Rectangle 28"/>
          <p:cNvSpPr/>
          <p:nvPr/>
        </p:nvSpPr>
        <p:spPr>
          <a:xfrm>
            <a:off x="548640" y="5806440"/>
            <a:ext cx="11091672" cy="685800"/>
          </a:xfrm>
          <a:prstGeom prst="roundRect">
            <a:avLst/>
          </a:prstGeom>
          <a:solidFill>
            <a:srgbClr val="EFF3F9"/>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5852160"/>
            <a:ext cx="10698480" cy="594360"/>
          </a:xfrm>
          <a:prstGeom prst="rect">
            <a:avLst/>
          </a:prstGeom>
          <a:noFill/>
        </p:spPr>
        <p:txBody>
          <a:bodyPr wrap="square" anchor="ctr" lIns="54864" rIns="54864" tIns="27432" bIns="27432">
            <a:spAutoFit/>
          </a:bodyPr>
          <a:lstStyle/>
          <a:p>
            <a:pPr algn="l">
              <a:spcAft>
                <a:spcPts val="400"/>
              </a:spcAft>
            </a:pPr>
            <a:r>
              <a:rPr sz="1350" b="1" i="0">
                <a:solidFill>
                  <a:srgbClr val="142E54"/>
                </a:solidFill>
                <a:latin typeface="Calibri"/>
              </a:rPr>
              <a:t>Διαφορετικές οικογένειες → διαφορετικά σφάλματα → πιο εύρωστος συνδυασμός (σταθμισμένη ψηφοφορία).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ΤΟ ΠΙΟ ΚΡΊΣΙΜΟ ΣΗΜΕΊΟ</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Μεθοδολογία εκπαίδευσης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11</a:t>
            </a:r>
          </a:p>
        </p:txBody>
      </p:sp>
      <p:sp>
        <p:nvSpPr>
          <p:cNvPr id="9" name="Rounded Rectangle 8"/>
          <p:cNvSpPr/>
          <p:nvPr/>
        </p:nvSpPr>
        <p:spPr>
          <a:xfrm>
            <a:off x="548640" y="1645920"/>
            <a:ext cx="5394960" cy="429768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4937760" cy="457200"/>
          </a:xfrm>
          <a:prstGeom prst="rect">
            <a:avLst/>
          </a:prstGeom>
          <a:noFill/>
        </p:spPr>
        <p:txBody>
          <a:bodyPr wrap="square" anchor="t" lIns="54864" rIns="54864" tIns="27432" bIns="27432">
            <a:spAutoFit/>
          </a:bodyPr>
          <a:lstStyle/>
          <a:p>
            <a:pPr algn="l">
              <a:spcAft>
                <a:spcPts val="400"/>
              </a:spcAft>
            </a:pPr>
            <a:r>
              <a:rPr sz="1600" b="1" i="0">
                <a:solidFill>
                  <a:srgbClr val="C03939"/>
                </a:solidFill>
                <a:latin typeface="Calibri"/>
              </a:rPr>
              <a:t>✗  Λάθος τρόπος (διαρροή)</a:t>
            </a:r>
          </a:p>
        </p:txBody>
      </p:sp>
      <p:sp>
        <p:nvSpPr>
          <p:cNvPr id="11" name="TextBox 10"/>
          <p:cNvSpPr txBox="1"/>
          <p:nvPr/>
        </p:nvSpPr>
        <p:spPr>
          <a:xfrm>
            <a:off x="777240" y="2331720"/>
            <a:ext cx="4937760" cy="3474720"/>
          </a:xfrm>
          <a:prstGeom prst="rect">
            <a:avLst/>
          </a:prstGeom>
          <a:noFill/>
        </p:spPr>
        <p:txBody>
          <a:bodyPr wrap="square">
            <a:spAutoFit/>
          </a:bodyPr>
          <a:lstStyle/>
          <a:p>
            <a:pPr>
              <a:spcAft>
                <a:spcPts val="800"/>
              </a:spcAft>
            </a:pPr>
            <a:r>
              <a:rPr sz="1500" b="1" i="0">
                <a:solidFill>
                  <a:srgbClr val="C03939"/>
                </a:solidFill>
                <a:latin typeface="Calibri"/>
              </a:rPr>
              <a:t>▸ </a:t>
            </a:r>
            <a:r>
              <a:rPr sz="1500" b="0" i="0">
                <a:solidFill>
                  <a:srgbClr val="202733"/>
                </a:solidFill>
                <a:latin typeface="Calibri"/>
              </a:rPr>
              <a:t>Τυχαίος / γενικός διαχωρισμός</a:t>
            </a:r>
          </a:p>
          <a:p>
            <a:pPr>
              <a:spcAft>
                <a:spcPts val="800"/>
              </a:spcAft>
            </a:pPr>
            <a:r>
              <a:rPr sz="1500" b="1" i="0">
                <a:solidFill>
                  <a:srgbClr val="C03939"/>
                </a:solidFill>
                <a:latin typeface="Calibri"/>
              </a:rPr>
              <a:t>▸ </a:t>
            </a:r>
            <a:r>
              <a:rPr sz="1500" b="0" i="0">
                <a:solidFill>
                  <a:srgbClr val="202733"/>
                </a:solidFill>
                <a:latin typeface="Calibri"/>
              </a:rPr>
              <a:t>Το μοντέλο «βλέπει» έμμεσα το μέλλον</a:t>
            </a:r>
          </a:p>
          <a:p>
            <a:pPr>
              <a:spcAft>
                <a:spcPts val="800"/>
              </a:spcAft>
            </a:pPr>
            <a:r>
              <a:rPr sz="1500" b="1" i="0">
                <a:solidFill>
                  <a:srgbClr val="C03939"/>
                </a:solidFill>
                <a:latin typeface="Calibri"/>
              </a:rPr>
              <a:t>▸ </a:t>
            </a:r>
            <a:r>
              <a:rPr sz="1500" b="0" i="0">
                <a:solidFill>
                  <a:srgbClr val="202733"/>
                </a:solidFill>
                <a:latin typeface="Calibri"/>
              </a:rPr>
              <a:t>Ψευδώς υψηλή ακρίβεια &gt; 60%</a:t>
            </a:r>
          </a:p>
          <a:p>
            <a:pPr>
              <a:spcAft>
                <a:spcPts val="800"/>
              </a:spcAft>
            </a:pPr>
            <a:r>
              <a:rPr sz="1500" b="1" i="0">
                <a:solidFill>
                  <a:srgbClr val="C03939"/>
                </a:solidFill>
                <a:latin typeface="Calibri"/>
              </a:rPr>
              <a:t>▸ </a:t>
            </a:r>
            <a:r>
              <a:rPr sz="1500" b="0" i="0">
                <a:solidFill>
                  <a:srgbClr val="202733"/>
                </a:solidFill>
                <a:latin typeface="Calibri"/>
              </a:rPr>
              <a:t>Μη ρεαλιστικά αποτελέσματα</a:t>
            </a:r>
          </a:p>
        </p:txBody>
      </p:sp>
      <p:sp>
        <p:nvSpPr>
          <p:cNvPr id="12" name="Rounded Rectangle 11"/>
          <p:cNvSpPr/>
          <p:nvPr/>
        </p:nvSpPr>
        <p:spPr>
          <a:xfrm>
            <a:off x="6217920" y="1645920"/>
            <a:ext cx="5394960" cy="4297680"/>
          </a:xfrm>
          <a:prstGeom prst="roundRect">
            <a:avLst/>
          </a:prstGeom>
          <a:solidFill>
            <a:srgbClr val="ECF6EE"/>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783080"/>
            <a:ext cx="4937760" cy="457200"/>
          </a:xfrm>
          <a:prstGeom prst="rect">
            <a:avLst/>
          </a:prstGeom>
          <a:noFill/>
        </p:spPr>
        <p:txBody>
          <a:bodyPr wrap="square" anchor="t" lIns="54864" rIns="54864" tIns="27432" bIns="27432">
            <a:spAutoFit/>
          </a:bodyPr>
          <a:lstStyle/>
          <a:p>
            <a:pPr algn="l">
              <a:spcAft>
                <a:spcPts val="400"/>
              </a:spcAft>
            </a:pPr>
            <a:r>
              <a:rPr sz="1600" b="1" i="0">
                <a:solidFill>
                  <a:srgbClr val="2E7D32"/>
                </a:solidFill>
                <a:latin typeface="Calibri"/>
              </a:rPr>
              <a:t>✓  Ο τρόπος μου (χωρίς διαρροή)</a:t>
            </a:r>
          </a:p>
        </p:txBody>
      </p:sp>
      <p:sp>
        <p:nvSpPr>
          <p:cNvPr id="14" name="TextBox 13"/>
          <p:cNvSpPr txBox="1"/>
          <p:nvPr/>
        </p:nvSpPr>
        <p:spPr>
          <a:xfrm>
            <a:off x="6446520" y="2331720"/>
            <a:ext cx="4937760" cy="3474720"/>
          </a:xfrm>
          <a:prstGeom prst="rect">
            <a:avLst/>
          </a:prstGeom>
          <a:noFill/>
        </p:spPr>
        <p:txBody>
          <a:bodyPr wrap="square">
            <a:spAutoFit/>
          </a:bodyPr>
          <a:lstStyle/>
          <a:p>
            <a:pPr>
              <a:spcAft>
                <a:spcPts val="800"/>
              </a:spcAft>
            </a:pPr>
            <a:r>
              <a:rPr sz="1500" b="1" i="0">
                <a:solidFill>
                  <a:srgbClr val="2E7D32"/>
                </a:solidFill>
                <a:latin typeface="Calibri"/>
              </a:rPr>
              <a:t>▸ </a:t>
            </a:r>
            <a:r>
              <a:rPr sz="1500" b="1" i="0">
                <a:solidFill>
                  <a:srgbClr val="202733"/>
                </a:solidFill>
                <a:latin typeface="Calibri"/>
              </a:rPr>
              <a:t>Χρονικός διαχωρισμός ΑΝΑ ΔΕΙΚΤΗ </a:t>
            </a:r>
            <a:r>
              <a:rPr sz="1500" b="0" i="0">
                <a:solidFill>
                  <a:srgbClr val="202733"/>
                </a:solidFill>
                <a:latin typeface="Calibri"/>
              </a:rPr>
              <a:t>(80/20)</a:t>
            </a:r>
          </a:p>
          <a:p>
            <a:pPr>
              <a:spcAft>
                <a:spcPts val="800"/>
              </a:spcAft>
            </a:pPr>
            <a:r>
              <a:rPr sz="1500" b="1" i="0">
                <a:solidFill>
                  <a:srgbClr val="2E7D32"/>
                </a:solidFill>
                <a:latin typeface="Calibri"/>
              </a:rPr>
              <a:t>▸ </a:t>
            </a:r>
            <a:r>
              <a:rPr sz="1500" b="1" i="0">
                <a:solidFill>
                  <a:srgbClr val="202733"/>
                </a:solidFill>
                <a:latin typeface="Calibri"/>
              </a:rPr>
              <a:t>Πρόβλεψη μόνο άγνωστου μέλλοντος</a:t>
            </a:r>
            <a:r>
              <a:rPr sz="1500" b="0" i="0">
                <a:solidFill>
                  <a:srgbClr val="202733"/>
                </a:solidFill>
                <a:latin typeface="Calibri"/>
              </a:rPr>
              <a:t/>
            </a:r>
          </a:p>
          <a:p>
            <a:pPr>
              <a:spcAft>
                <a:spcPts val="800"/>
              </a:spcAft>
            </a:pPr>
            <a:r>
              <a:rPr sz="1500" b="1" i="0">
                <a:solidFill>
                  <a:srgbClr val="2E7D32"/>
                </a:solidFill>
                <a:latin typeface="Calibri"/>
              </a:rPr>
              <a:t>▸ </a:t>
            </a:r>
            <a:r>
              <a:rPr sz="1500" b="1" i="0">
                <a:solidFill>
                  <a:srgbClr val="202733"/>
                </a:solidFill>
                <a:latin typeface="Calibri"/>
              </a:rPr>
              <a:t>Scalers </a:t>
            </a:r>
            <a:r>
              <a:rPr sz="1500" b="0" i="0">
                <a:solidFill>
                  <a:srgbClr val="202733"/>
                </a:solidFill>
                <a:latin typeface="Calibri"/>
              </a:rPr>
              <a:t>προσαρμοσμένοι μόνο στο train</a:t>
            </a:r>
          </a:p>
          <a:p>
            <a:pPr>
              <a:spcAft>
                <a:spcPts val="800"/>
              </a:spcAft>
            </a:pPr>
            <a:r>
              <a:rPr sz="1500" b="1" i="0">
                <a:solidFill>
                  <a:srgbClr val="2E7D32"/>
                </a:solidFill>
                <a:latin typeface="Calibri"/>
              </a:rPr>
              <a:t>▸ </a:t>
            </a:r>
            <a:r>
              <a:rPr sz="1500" b="1" i="0">
                <a:solidFill>
                  <a:srgbClr val="202733"/>
                </a:solidFill>
                <a:latin typeface="Calibri"/>
              </a:rPr>
              <a:t>Εξισορρόπηση κλάσεων </a:t>
            </a:r>
            <a:r>
              <a:rPr sz="1500" b="0" i="0">
                <a:solidFill>
                  <a:srgbClr val="202733"/>
                </a:solidFill>
                <a:latin typeface="Calibri"/>
              </a:rPr>
              <a:t>+ έμφαση συναισθήματος</a:t>
            </a:r>
          </a:p>
          <a:p>
            <a:pPr>
              <a:spcAft>
                <a:spcPts val="800"/>
              </a:spcAft>
            </a:pPr>
            <a:r>
              <a:rPr sz="1500" b="1" i="0">
                <a:solidFill>
                  <a:srgbClr val="2E7D32"/>
                </a:solidFill>
                <a:latin typeface="Calibri"/>
              </a:rPr>
              <a:t>▸ </a:t>
            </a:r>
            <a:r>
              <a:rPr sz="1500" b="1" i="0">
                <a:solidFill>
                  <a:srgbClr val="202733"/>
                </a:solidFill>
                <a:latin typeface="Calibri"/>
              </a:rPr>
              <a:t>Early stopping </a:t>
            </a:r>
            <a:r>
              <a:rPr sz="1500" b="0" i="0">
                <a:solidFill>
                  <a:srgbClr val="202733"/>
                </a:solidFill>
                <a:latin typeface="Calibri"/>
              </a:rPr>
              <a:t>στα νευρωνικά δίκτυα</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ΑΠΌΦΑΣΗ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Συνδυασμός, πρόβλεψη τιμής &amp; κίνδυνος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12</a:t>
            </a:r>
          </a:p>
        </p:txBody>
      </p:sp>
      <p:sp>
        <p:nvSpPr>
          <p:cNvPr id="9" name="TextBox 8"/>
          <p:cNvSpPr txBox="1"/>
          <p:nvPr/>
        </p:nvSpPr>
        <p:spPr>
          <a:xfrm>
            <a:off x="548640" y="1691640"/>
            <a:ext cx="5486400" cy="2560320"/>
          </a:xfrm>
          <a:prstGeom prst="rect">
            <a:avLst/>
          </a:prstGeom>
          <a:noFill/>
        </p:spPr>
        <p:txBody>
          <a:bodyPr wrap="square">
            <a:spAutoFit/>
          </a:bodyPr>
          <a:lstStyle/>
          <a:p>
            <a:pPr>
              <a:spcAft>
                <a:spcPts val="1100"/>
              </a:spcAft>
            </a:pPr>
            <a:r>
              <a:rPr sz="1550" b="1" i="0">
                <a:solidFill>
                  <a:srgbClr val="148F88"/>
                </a:solidFill>
                <a:latin typeface="Calibri"/>
              </a:rPr>
              <a:t>▸ </a:t>
            </a:r>
            <a:r>
              <a:rPr sz="1550" b="1" i="0">
                <a:solidFill>
                  <a:srgbClr val="202733"/>
                </a:solidFill>
                <a:latin typeface="Calibri"/>
              </a:rPr>
              <a:t>Σταθμισμένη ψηφοφορία </a:t>
            </a:r>
            <a:r>
              <a:rPr sz="1550" b="0" i="0">
                <a:solidFill>
                  <a:srgbClr val="202733"/>
                </a:solidFill>
                <a:latin typeface="Calibri"/>
              </a:rPr>
              <a:t>5 μοντέλων</a:t>
            </a:r>
          </a:p>
          <a:p>
            <a:pPr>
              <a:spcAft>
                <a:spcPts val="1100"/>
              </a:spcAft>
            </a:pPr>
            <a:r>
              <a:rPr sz="1550" b="1" i="0">
                <a:solidFill>
                  <a:srgbClr val="148F88"/>
                </a:solidFill>
                <a:latin typeface="Calibri"/>
              </a:rPr>
              <a:t>▸ </a:t>
            </a:r>
            <a:r>
              <a:rPr sz="1550" b="1" i="0">
                <a:solidFill>
                  <a:srgbClr val="202733"/>
                </a:solidFill>
                <a:latin typeface="Calibri"/>
              </a:rPr>
              <a:t>Κατώφλι εμπιστοσύνης 0.40 </a:t>
            </a:r>
            <a:r>
              <a:rPr sz="1550" b="0" i="0">
                <a:solidFill>
                  <a:srgbClr val="202733"/>
                </a:solidFill>
                <a:latin typeface="Calibri"/>
              </a:rPr>
              <a:t>(&gt; 0.333 τυχαίο)</a:t>
            </a:r>
          </a:p>
          <a:p>
            <a:pPr>
              <a:spcAft>
                <a:spcPts val="1100"/>
              </a:spcAft>
            </a:pPr>
            <a:r>
              <a:rPr sz="1550" b="1" i="0">
                <a:solidFill>
                  <a:srgbClr val="148F88"/>
                </a:solidFill>
                <a:latin typeface="Calibri"/>
              </a:rPr>
              <a:t>▸ </a:t>
            </a:r>
            <a:r>
              <a:rPr sz="1550" b="1" i="0">
                <a:solidFill>
                  <a:srgbClr val="202733"/>
                </a:solidFill>
                <a:latin typeface="Calibri"/>
              </a:rPr>
              <a:t>Δυναμική στάθμιση: </a:t>
            </a:r>
            <a:r>
              <a:rPr sz="1550" b="0" i="0">
                <a:solidFill>
                  <a:srgbClr val="202733"/>
                </a:solidFill>
                <a:latin typeface="Calibri"/>
              </a:rPr>
              <a:t>40% ακρίβεια + 40% confidence + 20% πρόσφατη</a:t>
            </a:r>
          </a:p>
          <a:p>
            <a:pPr>
              <a:spcAft>
                <a:spcPts val="1100"/>
              </a:spcAft>
            </a:pPr>
            <a:r>
              <a:rPr sz="1550" b="1" i="0">
                <a:solidFill>
                  <a:srgbClr val="148F88"/>
                </a:solidFill>
                <a:latin typeface="Calibri"/>
              </a:rPr>
              <a:t>▸ </a:t>
            </a:r>
            <a:r>
              <a:rPr sz="1550" b="1" i="0">
                <a:solidFill>
                  <a:srgbClr val="202733"/>
                </a:solidFill>
                <a:latin typeface="Calibri"/>
              </a:rPr>
              <a:t>18-ήμερη προβολή τιμής </a:t>
            </a:r>
            <a:r>
              <a:rPr sz="1550" b="0" i="0">
                <a:solidFill>
                  <a:srgbClr val="202733"/>
                </a:solidFill>
                <a:latin typeface="Calibri"/>
              </a:rPr>
              <a:t>(πολυβηματικό LSTM)</a:t>
            </a:r>
          </a:p>
        </p:txBody>
      </p:sp>
      <p:sp>
        <p:nvSpPr>
          <p:cNvPr id="10" name="Rounded Rectangle 9"/>
          <p:cNvSpPr/>
          <p:nvPr/>
        </p:nvSpPr>
        <p:spPr>
          <a:xfrm>
            <a:off x="548640" y="4343400"/>
            <a:ext cx="5486400" cy="160020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80560"/>
            <a:ext cx="5120640" cy="1371600"/>
          </a:xfrm>
          <a:prstGeom prst="rect">
            <a:avLst/>
          </a:prstGeom>
          <a:noFill/>
        </p:spPr>
        <p:txBody>
          <a:bodyPr wrap="square" anchor="ctr" lIns="54864" rIns="54864" tIns="27432" bIns="27432">
            <a:spAutoFit/>
          </a:bodyPr>
          <a:lstStyle/>
          <a:p>
            <a:pPr algn="l">
              <a:spcAft>
                <a:spcPts val="500"/>
              </a:spcAft>
            </a:pPr>
            <a:r>
              <a:rPr sz="1500" b="1" i="0">
                <a:solidFill>
                  <a:srgbClr val="7FD1C8"/>
                </a:solidFill>
                <a:latin typeface="Calibri"/>
              </a:rPr>
              <a:t>Ανάλυση κινδύνου</a:t>
            </a:r>
          </a:p>
          <a:p>
            <a:pPr algn="l">
              <a:spcAft>
                <a:spcPts val="400"/>
              </a:spcAft>
            </a:pPr>
            <a:r>
              <a:rPr sz="1400" b="0" i="0">
                <a:solidFill>
                  <a:srgbClr val="FFFFFF"/>
                </a:solidFill>
                <a:latin typeface="Calibri"/>
              </a:rPr>
              <a:t>GARCH(1,1) μεταβλητότητα · Monte Carlo 500 διαδρομές · VaR &amp; Expected Shortfall</a:t>
            </a:r>
          </a:p>
        </p:txBody>
      </p:sp>
      <p:pic>
        <p:nvPicPr>
          <p:cNvPr id="12" name="Picture 11" descr="eikona_5_2.png"/>
          <p:cNvPicPr>
            <a:picLocks noChangeAspect="1"/>
          </p:cNvPicPr>
          <p:nvPr/>
        </p:nvPicPr>
        <p:blipFill>
          <a:blip r:embed="rId2"/>
          <a:stretch>
            <a:fillRect/>
          </a:stretch>
        </p:blipFill>
        <p:spPr>
          <a:xfrm>
            <a:off x="6217920" y="1691640"/>
            <a:ext cx="5440680" cy="3590216"/>
          </a:xfrm>
          <a:prstGeom prst="rect">
            <a:avLst/>
          </a:prstGeom>
          <a:ln w="12700">
            <a:solidFill>
              <a:srgbClr val="D5DDE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DEMO</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Η εφαρμογή — διαδραστικό dashboard</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13</a:t>
            </a:r>
          </a:p>
        </p:txBody>
      </p:sp>
      <p:pic>
        <p:nvPicPr>
          <p:cNvPr id="9" name="Picture 8" descr="eikona_1_1.png"/>
          <p:cNvPicPr>
            <a:picLocks noChangeAspect="1"/>
          </p:cNvPicPr>
          <p:nvPr/>
        </p:nvPicPr>
        <p:blipFill>
          <a:blip r:embed="rId2"/>
          <a:stretch>
            <a:fillRect/>
          </a:stretch>
        </p:blipFill>
        <p:spPr>
          <a:xfrm>
            <a:off x="457200" y="1600200"/>
            <a:ext cx="7498079" cy="3554819"/>
          </a:xfrm>
          <a:prstGeom prst="rect">
            <a:avLst/>
          </a:prstGeom>
          <a:ln w="12700">
            <a:solidFill>
              <a:srgbClr val="D5DDE8"/>
            </a:solidFill>
          </a:ln>
        </p:spPr>
      </p:pic>
      <p:sp>
        <p:nvSpPr>
          <p:cNvPr id="10" name="TextBox 9"/>
          <p:cNvSpPr txBox="1"/>
          <p:nvPr/>
        </p:nvSpPr>
        <p:spPr>
          <a:xfrm>
            <a:off x="8229600" y="1828800"/>
            <a:ext cx="3474720" cy="3931920"/>
          </a:xfrm>
          <a:prstGeom prst="rect">
            <a:avLst/>
          </a:prstGeom>
          <a:noFill/>
        </p:spPr>
        <p:txBody>
          <a:bodyPr wrap="square">
            <a:spAutoFit/>
          </a:bodyPr>
          <a:lstStyle/>
          <a:p>
            <a:pPr>
              <a:spcAft>
                <a:spcPts val="1100"/>
              </a:spcAft>
            </a:pPr>
            <a:r>
              <a:rPr sz="1500" b="1" i="0">
                <a:solidFill>
                  <a:srgbClr val="148F88"/>
                </a:solidFill>
                <a:latin typeface="Calibri"/>
              </a:rPr>
              <a:t>▸ </a:t>
            </a:r>
            <a:r>
              <a:rPr sz="1500" b="1" i="0">
                <a:solidFill>
                  <a:srgbClr val="202733"/>
                </a:solidFill>
                <a:latin typeface="Calibri"/>
              </a:rPr>
              <a:t>3 καρτέλες: </a:t>
            </a:r>
            <a:r>
              <a:rPr sz="1500" b="0" i="0">
                <a:solidFill>
                  <a:srgbClr val="202733"/>
                </a:solidFill>
                <a:latin typeface="Calibri"/>
              </a:rPr>
              <a:t>Prediction, Backtest, Analysis</a:t>
            </a:r>
          </a:p>
          <a:p>
            <a:pPr>
              <a:spcAft>
                <a:spcPts val="1100"/>
              </a:spcAft>
            </a:pPr>
            <a:r>
              <a:rPr sz="1500" b="1" i="0">
                <a:solidFill>
                  <a:srgbClr val="148F88"/>
                </a:solidFill>
                <a:latin typeface="Calibri"/>
              </a:rPr>
              <a:t>▸ </a:t>
            </a:r>
            <a:r>
              <a:rPr sz="1500" b="1" i="0">
                <a:solidFill>
                  <a:srgbClr val="202733"/>
                </a:solidFill>
                <a:latin typeface="Calibri"/>
              </a:rPr>
              <a:t>Γράφημα </a:t>
            </a:r>
            <a:r>
              <a:rPr sz="1500" b="0" i="0">
                <a:solidFill>
                  <a:srgbClr val="202733"/>
                </a:solidFill>
                <a:latin typeface="Calibri"/>
              </a:rPr>
              <a:t>+ 18ήμερη πρόβλεψη</a:t>
            </a:r>
          </a:p>
          <a:p>
            <a:pPr>
              <a:spcAft>
                <a:spcPts val="1100"/>
              </a:spcAft>
            </a:pPr>
            <a:r>
              <a:rPr sz="1500" b="1" i="0">
                <a:solidFill>
                  <a:srgbClr val="148F88"/>
                </a:solidFill>
                <a:latin typeface="Calibri"/>
              </a:rPr>
              <a:t>▸ </a:t>
            </a:r>
            <a:r>
              <a:rPr sz="1500" b="1" i="0">
                <a:solidFill>
                  <a:srgbClr val="202733"/>
                </a:solidFill>
                <a:latin typeface="Calibri"/>
              </a:rPr>
              <a:t>Κάρτες </a:t>
            </a:r>
            <a:r>
              <a:rPr sz="1500" b="0" i="0">
                <a:solidFill>
                  <a:srgbClr val="202733"/>
                </a:solidFill>
                <a:latin typeface="Calibri"/>
              </a:rPr>
              <a:t>των 5 μοντέλων</a:t>
            </a:r>
          </a:p>
          <a:p>
            <a:pPr>
              <a:spcAft>
                <a:spcPts val="1100"/>
              </a:spcAft>
            </a:pPr>
            <a:r>
              <a:rPr sz="1500" b="1" i="0">
                <a:solidFill>
                  <a:srgbClr val="148F88"/>
                </a:solidFill>
                <a:latin typeface="Calibri"/>
              </a:rPr>
              <a:t>▸ </a:t>
            </a:r>
            <a:r>
              <a:rPr sz="1500" b="1" i="0">
                <a:solidFill>
                  <a:srgbClr val="202733"/>
                </a:solidFill>
                <a:latin typeface="Calibri"/>
              </a:rPr>
              <a:t>Τελική απόφαση </a:t>
            </a:r>
            <a:r>
              <a:rPr sz="1500" b="0" i="0">
                <a:solidFill>
                  <a:srgbClr val="202733"/>
                </a:solidFill>
                <a:latin typeface="Calibri"/>
              </a:rPr>
              <a:t>ensemble</a:t>
            </a:r>
          </a:p>
          <a:p>
            <a:pPr>
              <a:spcAft>
                <a:spcPts val="1100"/>
              </a:spcAft>
            </a:pPr>
            <a:r>
              <a:rPr sz="1500" b="1" i="0">
                <a:solidFill>
                  <a:srgbClr val="148F88"/>
                </a:solidFill>
                <a:latin typeface="Calibri"/>
              </a:rPr>
              <a:t>▸ </a:t>
            </a:r>
            <a:r>
              <a:rPr sz="1500" b="1" i="0">
                <a:solidFill>
                  <a:srgbClr val="202733"/>
                </a:solidFill>
                <a:latin typeface="Calibri"/>
              </a:rPr>
              <a:t>SHAP: </a:t>
            </a:r>
            <a:r>
              <a:rPr sz="1500" b="0" i="0">
                <a:solidFill>
                  <a:srgbClr val="202733"/>
                </a:solidFill>
                <a:latin typeface="Calibri"/>
              </a:rPr>
              <a:t>ερμηνεία κάθε πρόβλεψης</a:t>
            </a:r>
          </a:p>
          <a:p>
            <a:pPr>
              <a:spcAft>
                <a:spcPts val="1100"/>
              </a:spcAft>
            </a:pPr>
            <a:r>
              <a:rPr sz="1500" b="1" i="0">
                <a:solidFill>
                  <a:srgbClr val="148F88"/>
                </a:solidFill>
                <a:latin typeface="Calibri"/>
              </a:rPr>
              <a:t>▸ </a:t>
            </a:r>
            <a:r>
              <a:rPr sz="1500" b="1" i="0">
                <a:solidFill>
                  <a:srgbClr val="202733"/>
                </a:solidFill>
                <a:latin typeface="Calibri"/>
              </a:rPr>
              <a:t>Ζωντανά σήματα </a:t>
            </a:r>
            <a:r>
              <a:rPr sz="1500" b="0" i="0">
                <a:solidFill>
                  <a:srgbClr val="202733"/>
                </a:solidFill>
                <a:latin typeface="Calibri"/>
              </a:rPr>
              <a:t>αγοράς</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ΔΙΑΦΆΝΕΙΑ / SHAP</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Ερμηνευσιμότητα — γιατί προβλέπει έτσι</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14</a:t>
            </a:r>
          </a:p>
        </p:txBody>
      </p:sp>
      <p:pic>
        <p:nvPicPr>
          <p:cNvPr id="9" name="Picture 8" descr="eikona_4_1.png"/>
          <p:cNvPicPr>
            <a:picLocks noChangeAspect="1"/>
          </p:cNvPicPr>
          <p:nvPr/>
        </p:nvPicPr>
        <p:blipFill>
          <a:blip r:embed="rId2"/>
          <a:stretch>
            <a:fillRect/>
          </a:stretch>
        </p:blipFill>
        <p:spPr>
          <a:xfrm>
            <a:off x="457200" y="1554480"/>
            <a:ext cx="7223760" cy="4063365"/>
          </a:xfrm>
          <a:prstGeom prst="rect">
            <a:avLst/>
          </a:prstGeom>
          <a:ln w="12700">
            <a:solidFill>
              <a:srgbClr val="D5DDE8"/>
            </a:solidFill>
          </a:ln>
        </p:spPr>
      </p:pic>
      <p:sp>
        <p:nvSpPr>
          <p:cNvPr id="10" name="TextBox 9"/>
          <p:cNvSpPr txBox="1"/>
          <p:nvPr/>
        </p:nvSpPr>
        <p:spPr>
          <a:xfrm>
            <a:off x="7863840" y="1828800"/>
            <a:ext cx="3840480" cy="4023360"/>
          </a:xfrm>
          <a:prstGeom prst="rect">
            <a:avLst/>
          </a:prstGeom>
          <a:noFill/>
        </p:spPr>
        <p:txBody>
          <a:bodyPr wrap="square">
            <a:spAutoFit/>
          </a:bodyPr>
          <a:lstStyle/>
          <a:p>
            <a:pPr>
              <a:spcAft>
                <a:spcPts val="1200"/>
              </a:spcAft>
            </a:pPr>
            <a:r>
              <a:rPr sz="1500" b="1" i="0">
                <a:solidFill>
                  <a:srgbClr val="148F88"/>
                </a:solidFill>
                <a:latin typeface="Calibri"/>
              </a:rPr>
              <a:t>▸ </a:t>
            </a:r>
            <a:r>
              <a:rPr sz="1500" b="1" i="0">
                <a:solidFill>
                  <a:srgbClr val="202733"/>
                </a:solidFill>
                <a:latin typeface="Calibri"/>
              </a:rPr>
              <a:t>SHAP </a:t>
            </a:r>
            <a:r>
              <a:rPr sz="1500" b="0" i="0">
                <a:solidFill>
                  <a:srgbClr val="202733"/>
                </a:solidFill>
                <a:latin typeface="Calibri"/>
              </a:rPr>
              <a:t>(θεωρία παιγνίων Shapley)</a:t>
            </a:r>
          </a:p>
          <a:p>
            <a:pPr>
              <a:spcAft>
                <a:spcPts val="1200"/>
              </a:spcAft>
            </a:pPr>
            <a:r>
              <a:rPr sz="1500" b="1" i="0">
                <a:solidFill>
                  <a:srgbClr val="148F88"/>
                </a:solidFill>
                <a:latin typeface="Calibri"/>
              </a:rPr>
              <a:t>▸ </a:t>
            </a:r>
            <a:r>
              <a:rPr sz="1500" b="1" i="0">
                <a:solidFill>
                  <a:srgbClr val="202733"/>
                </a:solidFill>
                <a:latin typeface="Calibri"/>
              </a:rPr>
              <a:t>Ποσοτικοποιεί </a:t>
            </a:r>
            <a:r>
              <a:rPr sz="1500" b="0" i="0">
                <a:solidFill>
                  <a:srgbClr val="202733"/>
                </a:solidFill>
                <a:latin typeface="Calibri"/>
              </a:rPr>
              <a:t>τη συνεισφορά κάθε χαρακτηριστικού</a:t>
            </a:r>
          </a:p>
          <a:p>
            <a:pPr>
              <a:spcAft>
                <a:spcPts val="1200"/>
              </a:spcAft>
            </a:pPr>
            <a:r>
              <a:rPr sz="1500" b="1" i="0">
                <a:solidFill>
                  <a:srgbClr val="148F88"/>
                </a:solidFill>
                <a:latin typeface="Calibri"/>
              </a:rPr>
              <a:t>▸ </a:t>
            </a:r>
            <a:r>
              <a:rPr sz="1500" b="1" i="0">
                <a:solidFill>
                  <a:srgbClr val="202733"/>
                </a:solidFill>
                <a:latin typeface="Calibri"/>
              </a:rPr>
              <a:t>Πράσινο </a:t>
            </a:r>
            <a:r>
              <a:rPr sz="1500" b="0" i="0">
                <a:solidFill>
                  <a:srgbClr val="202733"/>
                </a:solidFill>
                <a:latin typeface="Calibri"/>
              </a:rPr>
              <a:t>→ σπρώχνει προς Αγορά</a:t>
            </a:r>
          </a:p>
          <a:p>
            <a:pPr>
              <a:spcAft>
                <a:spcPts val="1200"/>
              </a:spcAft>
            </a:pPr>
            <a:r>
              <a:rPr sz="1500" b="1" i="0">
                <a:solidFill>
                  <a:srgbClr val="148F88"/>
                </a:solidFill>
                <a:latin typeface="Calibri"/>
              </a:rPr>
              <a:t>▸ </a:t>
            </a:r>
            <a:r>
              <a:rPr sz="1500" b="1" i="0">
                <a:solidFill>
                  <a:srgbClr val="202733"/>
                </a:solidFill>
                <a:latin typeface="Calibri"/>
              </a:rPr>
              <a:t>Κόκκινο </a:t>
            </a:r>
            <a:r>
              <a:rPr sz="1500" b="0" i="0">
                <a:solidFill>
                  <a:srgbClr val="202733"/>
                </a:solidFill>
                <a:latin typeface="Calibri"/>
              </a:rPr>
              <a:t>→ σπρώχνει προς Πώληση</a:t>
            </a:r>
          </a:p>
          <a:p>
            <a:pPr>
              <a:spcAft>
                <a:spcPts val="1200"/>
              </a:spcAft>
            </a:pPr>
            <a:r>
              <a:rPr sz="1500" b="1" i="0">
                <a:solidFill>
                  <a:srgbClr val="148F88"/>
                </a:solidFill>
                <a:latin typeface="Calibri"/>
              </a:rPr>
              <a:t>▸ </a:t>
            </a:r>
            <a:r>
              <a:rPr sz="1500" b="1" i="0">
                <a:solidFill>
                  <a:srgbClr val="202733"/>
                </a:solidFill>
                <a:latin typeface="Calibri"/>
              </a:rPr>
              <a:t>Κορυφαίο εδώ: </a:t>
            </a:r>
            <a:r>
              <a:rPr sz="1500" b="0" i="0">
                <a:solidFill>
                  <a:srgbClr val="202733"/>
                </a:solidFill>
                <a:latin typeface="Calibri"/>
              </a:rPr>
              <a:t>«Sent Count» — δηλ. συναίσθημα!</a:t>
            </a:r>
          </a:p>
          <a:p>
            <a:pPr>
              <a:spcAft>
                <a:spcPts val="1200"/>
              </a:spcAft>
            </a:pPr>
            <a:r>
              <a:rPr sz="1500" b="1" i="0">
                <a:solidFill>
                  <a:srgbClr val="148F88"/>
                </a:solidFill>
                <a:latin typeface="Calibri"/>
              </a:rPr>
              <a:t>▸ </a:t>
            </a:r>
            <a:r>
              <a:rPr sz="1500" b="1" i="0">
                <a:solidFill>
                  <a:srgbClr val="202733"/>
                </a:solidFill>
                <a:latin typeface="Calibri"/>
              </a:rPr>
              <a:t>Απόδειξη </a:t>
            </a:r>
            <a:r>
              <a:rPr sz="1500" b="0" i="0">
                <a:solidFill>
                  <a:srgbClr val="202733"/>
                </a:solidFill>
                <a:latin typeface="Calibri"/>
              </a:rPr>
              <a:t>ότι το κείμενο όντως μετρά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ΣΤΙΓΜΙΌΤΥΠΑ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Η εφαρμογή σε χρήση</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15</a:t>
            </a:r>
          </a:p>
        </p:txBody>
      </p:sp>
      <p:sp>
        <p:nvSpPr>
          <p:cNvPr id="9" name="TextBox 8"/>
          <p:cNvSpPr txBox="1"/>
          <p:nvPr/>
        </p:nvSpPr>
        <p:spPr>
          <a:xfrm>
            <a:off x="548640" y="1417320"/>
            <a:ext cx="10972800" cy="320040"/>
          </a:xfrm>
          <a:prstGeom prst="rect">
            <a:avLst/>
          </a:prstGeom>
          <a:noFill/>
        </p:spPr>
        <p:txBody>
          <a:bodyPr wrap="square" anchor="t" lIns="54864" rIns="54864" tIns="27432" bIns="27432">
            <a:spAutoFit/>
          </a:bodyPr>
          <a:lstStyle/>
          <a:p>
            <a:pPr algn="l">
              <a:spcAft>
                <a:spcPts val="400"/>
              </a:spcAft>
            </a:pPr>
            <a:r>
              <a:rPr sz="1300" b="0" i="1">
                <a:solidFill>
                  <a:srgbClr val="5A6370"/>
                </a:solidFill>
                <a:latin typeface="Calibri"/>
              </a:rPr>
              <a:t>Οι πέντε ψήφοι των μοντέλων σε πραγματικό χρόνο:</a:t>
            </a:r>
          </a:p>
        </p:txBody>
      </p:sp>
      <p:pic>
        <p:nvPicPr>
          <p:cNvPr id="10" name="Picture 9" descr="eikona_5_3a.png"/>
          <p:cNvPicPr>
            <a:picLocks noChangeAspect="1"/>
          </p:cNvPicPr>
          <p:nvPr/>
        </p:nvPicPr>
        <p:blipFill>
          <a:blip r:embed="rId2"/>
          <a:stretch>
            <a:fillRect/>
          </a:stretch>
        </p:blipFill>
        <p:spPr>
          <a:xfrm>
            <a:off x="822960" y="1783080"/>
            <a:ext cx="10515600" cy="2109212"/>
          </a:xfrm>
          <a:prstGeom prst="rect">
            <a:avLst/>
          </a:prstGeom>
          <a:ln w="12700">
            <a:solidFill>
              <a:srgbClr val="D5DDE8"/>
            </a:solidFill>
          </a:ln>
        </p:spPr>
      </p:pic>
      <p:sp>
        <p:nvSpPr>
          <p:cNvPr id="11" name="TextBox 10"/>
          <p:cNvSpPr txBox="1"/>
          <p:nvPr/>
        </p:nvSpPr>
        <p:spPr>
          <a:xfrm>
            <a:off x="548640" y="3840480"/>
            <a:ext cx="5852160" cy="32004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Καρτέλα ανάλυσης (ensemble &amp; ομάδες χαρακτηριστικών):</a:t>
            </a:r>
          </a:p>
        </p:txBody>
      </p:sp>
      <p:pic>
        <p:nvPicPr>
          <p:cNvPr id="12" name="Picture 11" descr="eikona_5_5.png"/>
          <p:cNvPicPr>
            <a:picLocks noChangeAspect="1"/>
          </p:cNvPicPr>
          <p:nvPr/>
        </p:nvPicPr>
        <p:blipFill>
          <a:blip r:embed="rId3"/>
          <a:stretch>
            <a:fillRect/>
          </a:stretch>
        </p:blipFill>
        <p:spPr>
          <a:xfrm>
            <a:off x="548640" y="4160520"/>
            <a:ext cx="5760720" cy="3076931"/>
          </a:xfrm>
          <a:prstGeom prst="rect">
            <a:avLst/>
          </a:prstGeom>
          <a:ln w="12700">
            <a:solidFill>
              <a:srgbClr val="D5DDE8"/>
            </a:solidFill>
          </a:ln>
        </p:spPr>
      </p:pic>
      <p:sp>
        <p:nvSpPr>
          <p:cNvPr id="13" name="TextBox 12"/>
          <p:cNvSpPr txBox="1"/>
          <p:nvPr/>
        </p:nvSpPr>
        <p:spPr>
          <a:xfrm>
            <a:off x="6537960" y="3840480"/>
            <a:ext cx="5029200" cy="320040"/>
          </a:xfrm>
          <a:prstGeom prst="rect">
            <a:avLst/>
          </a:prstGeom>
          <a:noFill/>
        </p:spPr>
        <p:txBody>
          <a:bodyPr wrap="square" anchor="t" lIns="54864" rIns="54864" tIns="27432" bIns="27432">
            <a:spAutoFit/>
          </a:bodyPr>
          <a:lstStyle/>
          <a:p>
            <a:pPr algn="l">
              <a:spcAft>
                <a:spcPts val="400"/>
              </a:spcAft>
            </a:pPr>
            <a:r>
              <a:rPr sz="1200" b="0" i="1">
                <a:solidFill>
                  <a:srgbClr val="5A6370"/>
                </a:solidFill>
                <a:latin typeface="Calibri"/>
              </a:rPr>
              <a:t>Ζωντανά σήματα αγοράς ανά πηγή:</a:t>
            </a:r>
          </a:p>
        </p:txBody>
      </p:sp>
      <p:pic>
        <p:nvPicPr>
          <p:cNvPr id="14" name="Picture 13" descr="eikona_5_6a.png"/>
          <p:cNvPicPr>
            <a:picLocks noChangeAspect="1"/>
          </p:cNvPicPr>
          <p:nvPr/>
        </p:nvPicPr>
        <p:blipFill>
          <a:blip r:embed="rId4"/>
          <a:stretch>
            <a:fillRect/>
          </a:stretch>
        </p:blipFill>
        <p:spPr>
          <a:xfrm>
            <a:off x="6537960" y="4160520"/>
            <a:ext cx="1816037" cy="2148840"/>
          </a:xfrm>
          <a:prstGeom prst="rect">
            <a:avLst/>
          </a:prstGeom>
          <a:ln w="12700">
            <a:solidFill>
              <a:srgbClr val="D5DDE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ΑΞΙΟΛΌΓΗΣΗ</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Αποτελέσματα: ακρίβεια ταξινόμησης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16</a:t>
            </a:r>
          </a:p>
        </p:txBody>
      </p:sp>
      <p:sp>
        <p:nvSpPr>
          <p:cNvPr id="9" name="Rounded Rectangle 8"/>
          <p:cNvSpPr/>
          <p:nvPr/>
        </p:nvSpPr>
        <p:spPr>
          <a:xfrm>
            <a:off x="54864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82296" cy="1371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41.7%</a:t>
            </a:r>
          </a:p>
        </p:txBody>
      </p:sp>
      <p:sp>
        <p:nvSpPr>
          <p:cNvPr id="12" name="TextBox 11"/>
          <p:cNvSpPr txBox="1"/>
          <p:nvPr/>
        </p:nvSpPr>
        <p:spPr>
          <a:xfrm>
            <a:off x="69494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καλύτερη ακρίβεια (LSTM)</a:t>
            </a:r>
          </a:p>
        </p:txBody>
      </p:sp>
      <p:sp>
        <p:nvSpPr>
          <p:cNvPr id="13" name="Rounded Rectangle 12"/>
          <p:cNvSpPr/>
          <p:nvPr/>
        </p:nvSpPr>
        <p:spPr>
          <a:xfrm>
            <a:off x="333756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645920"/>
            <a:ext cx="82296"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C8861E"/>
                </a:solidFill>
                <a:latin typeface="Calibri"/>
              </a:rPr>
              <a:t>37.9%</a:t>
            </a:r>
          </a:p>
        </p:txBody>
      </p:sp>
      <p:sp>
        <p:nvSpPr>
          <p:cNvPr id="16" name="TextBox 15"/>
          <p:cNvSpPr txBox="1"/>
          <p:nvPr/>
        </p:nvSpPr>
        <p:spPr>
          <a:xfrm>
            <a:off x="348386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βασική γραμμή πλειοψηφίας</a:t>
            </a:r>
          </a:p>
        </p:txBody>
      </p:sp>
      <p:sp>
        <p:nvSpPr>
          <p:cNvPr id="17" name="Rounded Rectangle 16"/>
          <p:cNvSpPr/>
          <p:nvPr/>
        </p:nvSpPr>
        <p:spPr>
          <a:xfrm>
            <a:off x="6126480" y="1645920"/>
            <a:ext cx="265176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645920"/>
            <a:ext cx="82296" cy="1371600"/>
          </a:xfrm>
          <a:prstGeom prst="rect">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1737360"/>
            <a:ext cx="2468879" cy="795527"/>
          </a:xfrm>
          <a:prstGeom prst="rect">
            <a:avLst/>
          </a:prstGeom>
          <a:noFill/>
        </p:spPr>
        <p:txBody>
          <a:bodyPr wrap="square" anchor="ctr" lIns="54864" rIns="54864" tIns="27432" bIns="27432">
            <a:spAutoFit/>
          </a:bodyPr>
          <a:lstStyle/>
          <a:p>
            <a:pPr algn="l">
              <a:spcAft>
                <a:spcPts val="400"/>
              </a:spcAft>
            </a:pPr>
            <a:r>
              <a:rPr sz="3000" b="1" i="0">
                <a:solidFill>
                  <a:srgbClr val="5A6370"/>
                </a:solidFill>
                <a:latin typeface="Calibri"/>
              </a:rPr>
              <a:t>33.3%</a:t>
            </a:r>
          </a:p>
        </p:txBody>
      </p:sp>
      <p:sp>
        <p:nvSpPr>
          <p:cNvPr id="20" name="TextBox 19"/>
          <p:cNvSpPr txBox="1"/>
          <p:nvPr/>
        </p:nvSpPr>
        <p:spPr>
          <a:xfrm>
            <a:off x="6272784" y="2468880"/>
            <a:ext cx="2395728"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τυχαίο όριο</a:t>
            </a:r>
          </a:p>
        </p:txBody>
      </p:sp>
      <p:sp>
        <p:nvSpPr>
          <p:cNvPr id="21" name="Rounded Rectangle 20"/>
          <p:cNvSpPr/>
          <p:nvPr/>
        </p:nvSpPr>
        <p:spPr>
          <a:xfrm>
            <a:off x="8915400" y="1645920"/>
            <a:ext cx="2724912"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645920"/>
            <a:ext cx="82296"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1737360"/>
            <a:ext cx="2542032" cy="795527"/>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p &lt; 0.001</a:t>
            </a:r>
          </a:p>
        </p:txBody>
      </p:sp>
      <p:sp>
        <p:nvSpPr>
          <p:cNvPr id="24" name="TextBox 23"/>
          <p:cNvSpPr txBox="1"/>
          <p:nvPr/>
        </p:nvSpPr>
        <p:spPr>
          <a:xfrm>
            <a:off x="9061704" y="2468880"/>
            <a:ext cx="2468880" cy="493776"/>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McNemar (στατ. σημαντικό)</a:t>
            </a:r>
          </a:p>
        </p:txBody>
      </p:sp>
      <p:sp>
        <p:nvSpPr>
          <p:cNvPr id="25" name="Rounded Rectangle 24"/>
          <p:cNvSpPr/>
          <p:nvPr/>
        </p:nvSpPr>
        <p:spPr>
          <a:xfrm>
            <a:off x="548640" y="3246120"/>
            <a:ext cx="11091672" cy="11430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310128"/>
            <a:ext cx="10698480" cy="1051560"/>
          </a:xfrm>
          <a:prstGeom prst="rect">
            <a:avLst/>
          </a:prstGeom>
          <a:noFill/>
        </p:spPr>
        <p:txBody>
          <a:bodyPr wrap="square" anchor="ctr" lIns="54864" rIns="54864" tIns="27432" bIns="27432">
            <a:spAutoFit/>
          </a:bodyPr>
          <a:lstStyle/>
          <a:p>
            <a:pPr algn="l">
              <a:spcAft>
                <a:spcPts val="400"/>
              </a:spcAft>
            </a:pPr>
            <a:r>
              <a:rPr sz="1450" b="1" i="0">
                <a:solidFill>
                  <a:srgbClr val="142E54"/>
                </a:solidFill>
                <a:latin typeface="Calibri"/>
              </a:rPr>
              <a:t>Τεκμηρίωση (n = 4.452, out-of-sample): </a:t>
            </a:r>
          </a:p>
          <a:p>
            <a:pPr algn="l">
              <a:spcAft>
                <a:spcPts val="400"/>
              </a:spcAft>
            </a:pPr>
            <a:r>
              <a:rPr sz="1400" b="0" i="0">
                <a:solidFill>
                  <a:srgbClr val="202733"/>
                </a:solidFill>
                <a:latin typeface="Calibri"/>
              </a:rPr>
              <a:t>95% διάστημα εμπιστοσύνης 40.1–43.0% (κάτω όριο &gt; πλειοψηφία) · macro-F1 ≈ 0.40 · balanced accuracy ≈ 40% → το μοντέλο ΔΕΝ προβλέπει απλώς την πιο συχνή κλάση.</a:t>
            </a:r>
          </a:p>
        </p:txBody>
      </p:sp>
      <p:pic>
        <p:nvPicPr>
          <p:cNvPr id="27" name="Picture 26" descr="eikona_6_1.png"/>
          <p:cNvPicPr>
            <a:picLocks noChangeAspect="1"/>
          </p:cNvPicPr>
          <p:nvPr/>
        </p:nvPicPr>
        <p:blipFill>
          <a:blip r:embed="rId2"/>
          <a:stretch>
            <a:fillRect/>
          </a:stretch>
        </p:blipFill>
        <p:spPr>
          <a:xfrm>
            <a:off x="548640" y="4526280"/>
            <a:ext cx="11091672" cy="3518910"/>
          </a:xfrm>
          <a:prstGeom prst="rect">
            <a:avLst/>
          </a:prstGeom>
          <a:ln w="12700">
            <a:solidFill>
              <a:srgbClr val="D5DDE8"/>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BACKTESTING</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Αποτελέσματα: απόδοση στρατηγικής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17</a:t>
            </a:r>
          </a:p>
        </p:txBody>
      </p:sp>
      <p:sp>
        <p:nvSpPr>
          <p:cNvPr id="9" name="Rounded Rectangle 8"/>
          <p:cNvSpPr/>
          <p:nvPr/>
        </p:nvSpPr>
        <p:spPr>
          <a:xfrm>
            <a:off x="54864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45920"/>
            <a:ext cx="82296" cy="1280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+40.7%</a:t>
            </a:r>
          </a:p>
        </p:txBody>
      </p:sp>
      <p:sp>
        <p:nvSpPr>
          <p:cNvPr id="12" name="TextBox 11"/>
          <p:cNvSpPr txBox="1"/>
          <p:nvPr/>
        </p:nvSpPr>
        <p:spPr>
          <a:xfrm>
            <a:off x="69494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AAPL απόδοση στρατηγικής</a:t>
            </a:r>
          </a:p>
        </p:txBody>
      </p:sp>
      <p:sp>
        <p:nvSpPr>
          <p:cNvPr id="13" name="Rounded Rectangle 12"/>
          <p:cNvSpPr/>
          <p:nvPr/>
        </p:nvSpPr>
        <p:spPr>
          <a:xfrm>
            <a:off x="333756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37560" y="1645920"/>
            <a:ext cx="82296" cy="12801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7D32"/>
                </a:solidFill>
                <a:latin typeface="Calibri"/>
              </a:rPr>
              <a:t>2.12</a:t>
            </a:r>
          </a:p>
        </p:txBody>
      </p:sp>
      <p:sp>
        <p:nvSpPr>
          <p:cNvPr id="16" name="TextBox 15"/>
          <p:cNvSpPr txBox="1"/>
          <p:nvPr/>
        </p:nvSpPr>
        <p:spPr>
          <a:xfrm>
            <a:off x="348386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Sharpe (AAPL)</a:t>
            </a:r>
          </a:p>
        </p:txBody>
      </p:sp>
      <p:sp>
        <p:nvSpPr>
          <p:cNvPr id="17" name="Rounded Rectangle 16"/>
          <p:cNvSpPr/>
          <p:nvPr/>
        </p:nvSpPr>
        <p:spPr>
          <a:xfrm>
            <a:off x="6126480" y="1645920"/>
            <a:ext cx="2651760"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0" y="1645920"/>
            <a:ext cx="82296" cy="128016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36208" y="1737360"/>
            <a:ext cx="2468879" cy="742492"/>
          </a:xfrm>
          <a:prstGeom prst="rect">
            <a:avLst/>
          </a:prstGeom>
          <a:noFill/>
        </p:spPr>
        <p:txBody>
          <a:bodyPr wrap="square" anchor="ctr" lIns="54864" rIns="54864" tIns="27432" bIns="27432">
            <a:spAutoFit/>
          </a:bodyPr>
          <a:lstStyle/>
          <a:p>
            <a:pPr algn="l">
              <a:spcAft>
                <a:spcPts val="400"/>
              </a:spcAft>
            </a:pPr>
            <a:r>
              <a:rPr sz="3000" b="1" i="0">
                <a:solidFill>
                  <a:srgbClr val="2E6FB7"/>
                </a:solidFill>
                <a:latin typeface="Calibri"/>
              </a:rPr>
              <a:t>+18.0%</a:t>
            </a:r>
          </a:p>
        </p:txBody>
      </p:sp>
      <p:sp>
        <p:nvSpPr>
          <p:cNvPr id="20" name="TextBox 19"/>
          <p:cNvSpPr txBox="1"/>
          <p:nvPr/>
        </p:nvSpPr>
        <p:spPr>
          <a:xfrm>
            <a:off x="6272784" y="2414016"/>
            <a:ext cx="2395728"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AAPL Buy &amp; Hold</a:t>
            </a:r>
          </a:p>
        </p:txBody>
      </p:sp>
      <p:sp>
        <p:nvSpPr>
          <p:cNvPr id="21" name="Rounded Rectangle 20"/>
          <p:cNvSpPr/>
          <p:nvPr/>
        </p:nvSpPr>
        <p:spPr>
          <a:xfrm>
            <a:off x="8915400" y="1645920"/>
            <a:ext cx="2724912" cy="128016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15400" y="1645920"/>
            <a:ext cx="82296" cy="128016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25128" y="1737360"/>
            <a:ext cx="2542032" cy="742492"/>
          </a:xfrm>
          <a:prstGeom prst="rect">
            <a:avLst/>
          </a:prstGeom>
          <a:noFill/>
        </p:spPr>
        <p:txBody>
          <a:bodyPr wrap="square" anchor="ctr" lIns="54864" rIns="54864" tIns="27432" bIns="27432">
            <a:spAutoFit/>
          </a:bodyPr>
          <a:lstStyle/>
          <a:p>
            <a:pPr algn="l">
              <a:spcAft>
                <a:spcPts val="400"/>
              </a:spcAft>
            </a:pPr>
            <a:r>
              <a:rPr sz="3000" b="1" i="0">
                <a:solidFill>
                  <a:srgbClr val="148F88"/>
                </a:solidFill>
                <a:latin typeface="Calibri"/>
              </a:rPr>
              <a:t>70.9%</a:t>
            </a:r>
          </a:p>
        </p:txBody>
      </p:sp>
      <p:sp>
        <p:nvSpPr>
          <p:cNvPr id="24" name="TextBox 23"/>
          <p:cNvSpPr txBox="1"/>
          <p:nvPr/>
        </p:nvSpPr>
        <p:spPr>
          <a:xfrm>
            <a:off x="9061704" y="2414016"/>
            <a:ext cx="2468880" cy="460857"/>
          </a:xfrm>
          <a:prstGeom prst="rect">
            <a:avLst/>
          </a:prstGeom>
          <a:noFill/>
        </p:spPr>
        <p:txBody>
          <a:bodyPr wrap="square" anchor="t" lIns="54864" rIns="54864" tIns="27432" bIns="27432">
            <a:spAutoFit/>
          </a:bodyPr>
          <a:lstStyle/>
          <a:p>
            <a:pPr algn="l">
              <a:spcAft>
                <a:spcPts val="400"/>
              </a:spcAft>
            </a:pPr>
            <a:r>
              <a:rPr sz="1150" b="0" i="0">
                <a:solidFill>
                  <a:srgbClr val="5A6370"/>
                </a:solidFill>
                <a:latin typeface="Calibri"/>
              </a:rPr>
              <a:t>ακρίβεια SPY (ETF)</a:t>
            </a:r>
          </a:p>
        </p:txBody>
      </p:sp>
      <p:pic>
        <p:nvPicPr>
          <p:cNvPr id="25" name="Picture 24" descr="eikona_6_2.png"/>
          <p:cNvPicPr>
            <a:picLocks noChangeAspect="1"/>
          </p:cNvPicPr>
          <p:nvPr/>
        </p:nvPicPr>
        <p:blipFill>
          <a:blip r:embed="rId2"/>
          <a:stretch>
            <a:fillRect/>
          </a:stretch>
        </p:blipFill>
        <p:spPr>
          <a:xfrm>
            <a:off x="548640" y="3108960"/>
            <a:ext cx="6949440" cy="3257865"/>
          </a:xfrm>
          <a:prstGeom prst="rect">
            <a:avLst/>
          </a:prstGeom>
          <a:ln w="12700">
            <a:solidFill>
              <a:srgbClr val="D5DDE8"/>
            </a:solidFill>
          </a:ln>
        </p:spPr>
      </p:pic>
      <p:sp>
        <p:nvSpPr>
          <p:cNvPr id="26" name="Rounded Rectangle 25"/>
          <p:cNvSpPr/>
          <p:nvPr/>
        </p:nvSpPr>
        <p:spPr>
          <a:xfrm>
            <a:off x="7680960" y="3108960"/>
            <a:ext cx="3959352" cy="283464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0" y="3246120"/>
            <a:ext cx="3611880" cy="2651760"/>
          </a:xfrm>
          <a:prstGeom prst="rect">
            <a:avLst/>
          </a:prstGeom>
          <a:noFill/>
        </p:spPr>
        <p:txBody>
          <a:bodyPr wrap="square" anchor="t" lIns="54864" rIns="54864" tIns="27432" bIns="27432">
            <a:spAutoFit/>
          </a:bodyPr>
          <a:lstStyle/>
          <a:p>
            <a:pPr algn="l">
              <a:spcAft>
                <a:spcPts val="500"/>
              </a:spcAft>
            </a:pPr>
            <a:r>
              <a:rPr sz="1400" b="1" i="0">
                <a:solidFill>
                  <a:srgbClr val="C03939"/>
                </a:solidFill>
                <a:latin typeface="Calibri"/>
              </a:rPr>
              <a:t>Εντιμότητα:</a:t>
            </a:r>
          </a:p>
          <a:p>
            <a:pPr algn="l">
              <a:spcAft>
                <a:spcPts val="600"/>
              </a:spcAft>
            </a:pPr>
            <a:r>
              <a:rPr sz="1300" b="0" i="0">
                <a:solidFill>
                  <a:srgbClr val="202733"/>
                </a:solidFill>
                <a:latin typeface="Calibri"/>
              </a:rPr>
              <a:t>Δεν κερδίζει σταθερά την αγορά. Σε ανοδικούς δείκτες υστερεί.</a:t>
            </a:r>
          </a:p>
          <a:p>
            <a:pPr algn="l">
              <a:spcAft>
                <a:spcPts val="400"/>
              </a:spcAft>
            </a:pPr>
            <a:r>
              <a:rPr sz="1300" b="0" i="0">
                <a:solidFill>
                  <a:srgbClr val="202733"/>
                </a:solidFill>
                <a:latin typeface="Calibri"/>
              </a:rPr>
              <a:t>Περιορισμοί (δηλωμένοι): κόστη συναλλαγών, slippage, survivorship bias δεν μοντελοποιούνται.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ΕΡΕΥΝΗΤΙΚΉ ΣΥΝΕΙΣΦΟΡΆ</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Εστιασμένη μελέτη: στάθμιση συναισθήματος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18</a:t>
            </a:r>
          </a:p>
        </p:txBody>
      </p:sp>
      <p:sp>
        <p:nvSpPr>
          <p:cNvPr id="9" name="TextBox 8"/>
          <p:cNvSpPr txBox="1"/>
          <p:nvPr/>
        </p:nvSpPr>
        <p:spPr>
          <a:xfrm>
            <a:off x="548640" y="1463040"/>
            <a:ext cx="10972800" cy="457200"/>
          </a:xfrm>
          <a:prstGeom prst="rect">
            <a:avLst/>
          </a:prstGeom>
          <a:noFill/>
        </p:spPr>
        <p:txBody>
          <a:bodyPr wrap="square" anchor="t" lIns="54864" rIns="54864" tIns="27432" bIns="27432">
            <a:spAutoFit/>
          </a:bodyPr>
          <a:lstStyle/>
          <a:p>
            <a:pPr algn="l">
              <a:spcAft>
                <a:spcPts val="400"/>
              </a:spcAft>
            </a:pPr>
            <a:r>
              <a:rPr sz="1500" b="0" i="1">
                <a:solidFill>
                  <a:srgbClr val="5A6370"/>
                </a:solidFill>
                <a:latin typeface="Calibri"/>
              </a:rPr>
              <a:t>Ερώτημα: βελτιώνει η στάθμιση με βάση την αξιοπιστία, vs unweighted vs learned; (υποσύνολο 2024+)</a:t>
            </a:r>
          </a:p>
        </p:txBody>
      </p:sp>
      <p:sp>
        <p:nvSpPr>
          <p:cNvPr id="10" name="Rectangle 9"/>
          <p:cNvSpPr/>
          <p:nvPr/>
        </p:nvSpPr>
        <p:spPr>
          <a:xfrm>
            <a:off x="548640" y="2057400"/>
            <a:ext cx="10698480" cy="50292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57400"/>
            <a:ext cx="5760720" cy="502920"/>
          </a:xfrm>
          <a:prstGeom prst="rect">
            <a:avLst/>
          </a:prstGeom>
          <a:noFill/>
        </p:spPr>
        <p:txBody>
          <a:bodyPr wrap="square" anchor="ctr" lIns="54864" rIns="54864" tIns="27432" bIns="27432">
            <a:spAutoFit/>
          </a:bodyPr>
          <a:lstStyle/>
          <a:p>
            <a:pPr algn="l">
              <a:spcAft>
                <a:spcPts val="400"/>
              </a:spcAft>
            </a:pPr>
            <a:r>
              <a:rPr sz="1350" b="1" i="0">
                <a:solidFill>
                  <a:srgbClr val="FFFFFF"/>
                </a:solidFill>
                <a:latin typeface="Calibri"/>
              </a:rPr>
              <a:t>Σχήμα στάθμισης</a:t>
            </a:r>
          </a:p>
        </p:txBody>
      </p:sp>
      <p:sp>
        <p:nvSpPr>
          <p:cNvPr id="12" name="TextBox 11"/>
          <p:cNvSpPr txBox="1"/>
          <p:nvPr/>
        </p:nvSpPr>
        <p:spPr>
          <a:xfrm>
            <a:off x="6629400" y="2057400"/>
            <a:ext cx="2194560" cy="502920"/>
          </a:xfrm>
          <a:prstGeom prst="rect">
            <a:avLst/>
          </a:prstGeom>
          <a:noFill/>
        </p:spPr>
        <p:txBody>
          <a:bodyPr wrap="square" anchor="ctr" lIns="54864" rIns="54864" tIns="27432" bIns="27432">
            <a:spAutoFit/>
          </a:bodyPr>
          <a:lstStyle/>
          <a:p>
            <a:pPr algn="ctr">
              <a:spcAft>
                <a:spcPts val="400"/>
              </a:spcAft>
            </a:pPr>
            <a:r>
              <a:rPr sz="1350" b="1" i="0">
                <a:solidFill>
                  <a:srgbClr val="FFFFFF"/>
                </a:solidFill>
                <a:latin typeface="Calibri"/>
              </a:rPr>
              <a:t>Ακρίβεια</a:t>
            </a:r>
          </a:p>
        </p:txBody>
      </p:sp>
      <p:sp>
        <p:nvSpPr>
          <p:cNvPr id="13" name="TextBox 12"/>
          <p:cNvSpPr txBox="1"/>
          <p:nvPr/>
        </p:nvSpPr>
        <p:spPr>
          <a:xfrm>
            <a:off x="9006840" y="2057400"/>
            <a:ext cx="2194560" cy="502920"/>
          </a:xfrm>
          <a:prstGeom prst="rect">
            <a:avLst/>
          </a:prstGeom>
          <a:noFill/>
        </p:spPr>
        <p:txBody>
          <a:bodyPr wrap="square" anchor="ctr" lIns="54864" rIns="54864" tIns="27432" bIns="27432">
            <a:spAutoFit/>
          </a:bodyPr>
          <a:lstStyle/>
          <a:p>
            <a:pPr algn="ctr">
              <a:spcAft>
                <a:spcPts val="400"/>
              </a:spcAft>
            </a:pPr>
            <a:r>
              <a:rPr sz="1350" b="1" i="0">
                <a:solidFill>
                  <a:srgbClr val="FFFFFF"/>
                </a:solidFill>
                <a:latin typeface="Calibri"/>
              </a:rPr>
              <a:t>macro-F1</a:t>
            </a:r>
          </a:p>
        </p:txBody>
      </p:sp>
      <p:sp>
        <p:nvSpPr>
          <p:cNvPr id="14" name="Rectangle 13"/>
          <p:cNvSpPr/>
          <p:nvPr/>
        </p:nvSpPr>
        <p:spPr>
          <a:xfrm>
            <a:off x="548640" y="2560320"/>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560320"/>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price-only (χωρίς συναίσθημα)</a:t>
            </a:r>
          </a:p>
        </p:txBody>
      </p:sp>
      <p:sp>
        <p:nvSpPr>
          <p:cNvPr id="16" name="TextBox 15"/>
          <p:cNvSpPr txBox="1"/>
          <p:nvPr/>
        </p:nvSpPr>
        <p:spPr>
          <a:xfrm>
            <a:off x="6492240" y="2560320"/>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5A6370"/>
                </a:solidFill>
                <a:latin typeface="Calibri"/>
              </a:rPr>
              <a:t>37.74%</a:t>
            </a:r>
          </a:p>
        </p:txBody>
      </p:sp>
      <p:sp>
        <p:nvSpPr>
          <p:cNvPr id="17" name="TextBox 16"/>
          <p:cNvSpPr txBox="1"/>
          <p:nvPr/>
        </p:nvSpPr>
        <p:spPr>
          <a:xfrm>
            <a:off x="8869680" y="2560320"/>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0.367</a:t>
            </a:r>
          </a:p>
        </p:txBody>
      </p:sp>
      <p:sp>
        <p:nvSpPr>
          <p:cNvPr id="18" name="Rectangle 17"/>
          <p:cNvSpPr/>
          <p:nvPr/>
        </p:nvSpPr>
        <p:spPr>
          <a:xfrm>
            <a:off x="548640" y="3127248"/>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127248"/>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Μη σταθμισμένο (unweighted)</a:t>
            </a:r>
          </a:p>
        </p:txBody>
      </p:sp>
      <p:sp>
        <p:nvSpPr>
          <p:cNvPr id="20" name="TextBox 19"/>
          <p:cNvSpPr txBox="1"/>
          <p:nvPr/>
        </p:nvSpPr>
        <p:spPr>
          <a:xfrm>
            <a:off x="6492240" y="3127248"/>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2E6FB7"/>
                </a:solidFill>
                <a:latin typeface="Calibri"/>
              </a:rPr>
              <a:t>38.89%</a:t>
            </a:r>
          </a:p>
        </p:txBody>
      </p:sp>
      <p:sp>
        <p:nvSpPr>
          <p:cNvPr id="21" name="TextBox 20"/>
          <p:cNvSpPr txBox="1"/>
          <p:nvPr/>
        </p:nvSpPr>
        <p:spPr>
          <a:xfrm>
            <a:off x="8869680" y="3127248"/>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0.370</a:t>
            </a:r>
          </a:p>
        </p:txBody>
      </p:sp>
      <p:sp>
        <p:nvSpPr>
          <p:cNvPr id="22" name="Rectangle 21"/>
          <p:cNvSpPr/>
          <p:nvPr/>
        </p:nvSpPr>
        <p:spPr>
          <a:xfrm>
            <a:off x="548640" y="3694176"/>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694176"/>
            <a:ext cx="5669280" cy="566928"/>
          </a:xfrm>
          <a:prstGeom prst="rect">
            <a:avLst/>
          </a:prstGeom>
          <a:noFill/>
        </p:spPr>
        <p:txBody>
          <a:bodyPr wrap="square" anchor="ctr" lIns="54864" rIns="54864" tIns="27432" bIns="27432">
            <a:spAutoFit/>
          </a:bodyPr>
          <a:lstStyle/>
          <a:p>
            <a:pPr algn="l">
              <a:spcAft>
                <a:spcPts val="400"/>
              </a:spcAft>
            </a:pPr>
            <a:r>
              <a:rPr sz="1350" b="1" i="0">
                <a:solidFill>
                  <a:srgbClr val="202733"/>
                </a:solidFill>
                <a:latin typeface="Calibri"/>
              </a:rPr>
              <a:t>Σταθμισμένο ως προς αξιοπιστία</a:t>
            </a:r>
          </a:p>
        </p:txBody>
      </p:sp>
      <p:sp>
        <p:nvSpPr>
          <p:cNvPr id="24" name="TextBox 23"/>
          <p:cNvSpPr txBox="1"/>
          <p:nvPr/>
        </p:nvSpPr>
        <p:spPr>
          <a:xfrm>
            <a:off x="6492240" y="3694176"/>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2E7D32"/>
                </a:solidFill>
                <a:latin typeface="Calibri"/>
              </a:rPr>
              <a:t>39.16%</a:t>
            </a:r>
          </a:p>
        </p:txBody>
      </p:sp>
      <p:sp>
        <p:nvSpPr>
          <p:cNvPr id="25" name="TextBox 24"/>
          <p:cNvSpPr txBox="1"/>
          <p:nvPr/>
        </p:nvSpPr>
        <p:spPr>
          <a:xfrm>
            <a:off x="8869680" y="3694176"/>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0.371</a:t>
            </a:r>
          </a:p>
        </p:txBody>
      </p:sp>
      <p:sp>
        <p:nvSpPr>
          <p:cNvPr id="26" name="Rectangle 25"/>
          <p:cNvSpPr/>
          <p:nvPr/>
        </p:nvSpPr>
        <p:spPr>
          <a:xfrm>
            <a:off x="548640" y="4261104"/>
            <a:ext cx="10698480" cy="566928"/>
          </a:xfrm>
          <a:prstGeom prst="rect">
            <a:avLst/>
          </a:prstGeom>
          <a:solidFill>
            <a:srgbClr val="FFFFFF"/>
          </a:solidFill>
          <a:ln w="635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261104"/>
            <a:ext cx="5669280" cy="566928"/>
          </a:xfrm>
          <a:prstGeom prst="rect">
            <a:avLst/>
          </a:prstGeom>
          <a:noFill/>
        </p:spPr>
        <p:txBody>
          <a:bodyPr wrap="square" anchor="ctr" lIns="54864" rIns="54864" tIns="27432" bIns="27432">
            <a:spAutoFit/>
          </a:bodyPr>
          <a:lstStyle/>
          <a:p>
            <a:pPr algn="l">
              <a:spcAft>
                <a:spcPts val="400"/>
              </a:spcAft>
            </a:pPr>
            <a:r>
              <a:rPr sz="1350" b="0" i="0">
                <a:solidFill>
                  <a:srgbClr val="202733"/>
                </a:solidFill>
                <a:latin typeface="Calibri"/>
              </a:rPr>
              <a:t>Learned weights</a:t>
            </a:r>
          </a:p>
        </p:txBody>
      </p:sp>
      <p:sp>
        <p:nvSpPr>
          <p:cNvPr id="28" name="TextBox 27"/>
          <p:cNvSpPr txBox="1"/>
          <p:nvPr/>
        </p:nvSpPr>
        <p:spPr>
          <a:xfrm>
            <a:off x="6492240" y="4261104"/>
            <a:ext cx="2377440" cy="566928"/>
          </a:xfrm>
          <a:prstGeom prst="rect">
            <a:avLst/>
          </a:prstGeom>
          <a:noFill/>
        </p:spPr>
        <p:txBody>
          <a:bodyPr wrap="square" anchor="ctr" lIns="54864" rIns="54864" tIns="27432" bIns="27432">
            <a:spAutoFit/>
          </a:bodyPr>
          <a:lstStyle/>
          <a:p>
            <a:pPr algn="ctr">
              <a:spcAft>
                <a:spcPts val="400"/>
              </a:spcAft>
            </a:pPr>
            <a:r>
              <a:rPr sz="1400" b="1" i="0">
                <a:solidFill>
                  <a:srgbClr val="C8861E"/>
                </a:solidFill>
                <a:latin typeface="Calibri"/>
              </a:rPr>
              <a:t>39.16%</a:t>
            </a:r>
          </a:p>
        </p:txBody>
      </p:sp>
      <p:sp>
        <p:nvSpPr>
          <p:cNvPr id="29" name="TextBox 28"/>
          <p:cNvSpPr txBox="1"/>
          <p:nvPr/>
        </p:nvSpPr>
        <p:spPr>
          <a:xfrm>
            <a:off x="8869680" y="4261104"/>
            <a:ext cx="2377440" cy="566928"/>
          </a:xfrm>
          <a:prstGeom prst="rect">
            <a:avLst/>
          </a:prstGeom>
          <a:noFill/>
        </p:spPr>
        <p:txBody>
          <a:bodyPr wrap="square" anchor="ctr" lIns="54864" rIns="54864" tIns="27432" bIns="27432">
            <a:spAutoFit/>
          </a:bodyPr>
          <a:lstStyle/>
          <a:p>
            <a:pPr algn="ctr">
              <a:spcAft>
                <a:spcPts val="400"/>
              </a:spcAft>
            </a:pPr>
            <a:r>
              <a:rPr sz="1350" b="0" i="0">
                <a:solidFill>
                  <a:srgbClr val="202733"/>
                </a:solidFill>
                <a:latin typeface="Calibri"/>
              </a:rPr>
              <a:t>0.370</a:t>
            </a:r>
          </a:p>
        </p:txBody>
      </p:sp>
      <p:sp>
        <p:nvSpPr>
          <p:cNvPr id="30" name="TextBox 29"/>
          <p:cNvSpPr txBox="1"/>
          <p:nvPr/>
        </p:nvSpPr>
        <p:spPr>
          <a:xfrm>
            <a:off x="548640" y="5029200"/>
            <a:ext cx="11064240" cy="1280160"/>
          </a:xfrm>
          <a:prstGeom prst="rect">
            <a:avLst/>
          </a:prstGeom>
          <a:noFill/>
        </p:spPr>
        <p:txBody>
          <a:bodyPr wrap="square">
            <a:spAutoFit/>
          </a:bodyPr>
          <a:lstStyle/>
          <a:p>
            <a:pPr>
              <a:spcAft>
                <a:spcPts val="600"/>
              </a:spcAft>
            </a:pPr>
            <a:r>
              <a:rPr sz="1400" b="1" i="0">
                <a:solidFill>
                  <a:srgbClr val="148F88"/>
                </a:solidFill>
                <a:latin typeface="Calibri"/>
              </a:rPr>
              <a:t>▸ </a:t>
            </a:r>
            <a:r>
              <a:rPr sz="1400" b="1" i="0">
                <a:solidFill>
                  <a:srgbClr val="202733"/>
                </a:solidFill>
                <a:latin typeface="Calibri"/>
              </a:rPr>
              <a:t>Συναίσθημα: </a:t>
            </a:r>
            <a:r>
              <a:rPr sz="1400" b="0" i="0">
                <a:solidFill>
                  <a:srgbClr val="202733"/>
                </a:solidFill>
                <a:latin typeface="Calibri"/>
              </a:rPr>
              <a:t>+1.4 μονάδες έναντι price-only ✓</a:t>
            </a:r>
          </a:p>
          <a:p>
            <a:pPr>
              <a:spcAft>
                <a:spcPts val="600"/>
              </a:spcAft>
            </a:pPr>
            <a:r>
              <a:rPr sz="1400" b="1" i="0">
                <a:solidFill>
                  <a:srgbClr val="148F88"/>
                </a:solidFill>
                <a:latin typeface="Calibri"/>
              </a:rPr>
              <a:t>▸ </a:t>
            </a:r>
            <a:r>
              <a:rPr sz="1400" b="1" i="0">
                <a:solidFill>
                  <a:srgbClr val="202733"/>
                </a:solidFill>
                <a:latin typeface="Calibri"/>
              </a:rPr>
              <a:t>Στάθμιση αξιοπιστίας: </a:t>
            </a:r>
            <a:r>
              <a:rPr sz="1400" b="0" i="0">
                <a:solidFill>
                  <a:srgbClr val="202733"/>
                </a:solidFill>
                <a:latin typeface="Calibri"/>
              </a:rPr>
              <a:t>οριακά καλύτερη (εντός θορύβου) — έντιμο εύρημα</a:t>
            </a:r>
          </a:p>
          <a:p>
            <a:pPr>
              <a:spcAft>
                <a:spcPts val="600"/>
              </a:spcAft>
            </a:pPr>
            <a:r>
              <a:rPr sz="1400" b="1" i="0">
                <a:solidFill>
                  <a:srgbClr val="148F88"/>
                </a:solidFill>
                <a:latin typeface="Calibri"/>
              </a:rPr>
              <a:t>▸ </a:t>
            </a:r>
            <a:r>
              <a:rPr sz="1400" b="1" i="0">
                <a:solidFill>
                  <a:srgbClr val="202733"/>
                </a:solidFill>
                <a:latin typeface="Calibri"/>
              </a:rPr>
              <a:t>Learned weights: </a:t>
            </a:r>
            <a:r>
              <a:rPr sz="1400" b="0" i="0">
                <a:solidFill>
                  <a:srgbClr val="202733"/>
                </a:solidFill>
                <a:latin typeface="Calibri"/>
              </a:rPr>
              <a:t>όριο δεδομένων → μελλοντική εργασία</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ΜΕΘΟΔΟΛΟΓΊΑ</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Προβλήματα που αντιμετώπισα &amp; έλυσα</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19</a:t>
            </a:r>
          </a:p>
        </p:txBody>
      </p:sp>
      <p:sp>
        <p:nvSpPr>
          <p:cNvPr id="9" name="Rounded Rectangle 8"/>
          <p:cNvSpPr/>
          <p:nvPr/>
        </p:nvSpPr>
        <p:spPr>
          <a:xfrm>
            <a:off x="548640" y="1691640"/>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109728" cy="1371600"/>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819656"/>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Διαρροή πληροφορίας</a:t>
            </a:r>
          </a:p>
        </p:txBody>
      </p:sp>
      <p:sp>
        <p:nvSpPr>
          <p:cNvPr id="12" name="TextBox 11"/>
          <p:cNvSpPr txBox="1"/>
          <p:nvPr/>
        </p:nvSpPr>
        <p:spPr>
          <a:xfrm>
            <a:off x="822959" y="2313432"/>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Ψευδώς 60%+ → χρονικός διαχωρισμός → ρεαλιστικά 41%</a:t>
            </a:r>
          </a:p>
        </p:txBody>
      </p:sp>
      <p:sp>
        <p:nvSpPr>
          <p:cNvPr id="13" name="Rounded Rectangle 12"/>
          <p:cNvSpPr/>
          <p:nvPr/>
        </p:nvSpPr>
        <p:spPr>
          <a:xfrm>
            <a:off x="6153912" y="1691640"/>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53912" y="1691640"/>
            <a:ext cx="109728"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9944" y="1819656"/>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Σειρά χαρακτηριστικών LSTM</a:t>
            </a:r>
          </a:p>
        </p:txBody>
      </p:sp>
      <p:sp>
        <p:nvSpPr>
          <p:cNvPr id="16" name="TextBox 15"/>
          <p:cNvSpPr txBox="1"/>
          <p:nvPr/>
        </p:nvSpPr>
        <p:spPr>
          <a:xfrm>
            <a:off x="6428231" y="2313432"/>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Ασυμφωνία train/predict → σιωπηλή υποβάθμιση → ενιαία σειρά</a:t>
            </a:r>
          </a:p>
        </p:txBody>
      </p:sp>
      <p:sp>
        <p:nvSpPr>
          <p:cNvPr id="17" name="Rounded Rectangle 16"/>
          <p:cNvSpPr/>
          <p:nvPr/>
        </p:nvSpPr>
        <p:spPr>
          <a:xfrm>
            <a:off x="548640" y="3209544"/>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09544"/>
            <a:ext cx="109728" cy="1371600"/>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337560"/>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Αντιστοίχιση κλάσεων</a:t>
            </a:r>
          </a:p>
        </p:txBody>
      </p:sp>
      <p:sp>
        <p:nvSpPr>
          <p:cNvPr id="20" name="TextBox 19"/>
          <p:cNvSpPr txBox="1"/>
          <p:nvPr/>
        </p:nvSpPr>
        <p:spPr>
          <a:xfrm>
            <a:off x="822959" y="3831335"/>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{-1,0,1} vs {0,1,2} στην αξιολόγηση → επαναχαρτογράφηση</a:t>
            </a:r>
          </a:p>
        </p:txBody>
      </p:sp>
      <p:sp>
        <p:nvSpPr>
          <p:cNvPr id="21" name="Rounded Rectangle 20"/>
          <p:cNvSpPr/>
          <p:nvPr/>
        </p:nvSpPr>
        <p:spPr>
          <a:xfrm>
            <a:off x="6153912" y="3209544"/>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53912" y="3209544"/>
            <a:ext cx="109728"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3337560"/>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Reddit → δείκτες</a:t>
            </a:r>
          </a:p>
        </p:txBody>
      </p:sp>
      <p:sp>
        <p:nvSpPr>
          <p:cNvPr id="24" name="TextBox 23"/>
          <p:cNvSpPr txBox="1"/>
          <p:nvPr/>
        </p:nvSpPr>
        <p:spPr>
          <a:xfrm>
            <a:off x="6428231" y="3831335"/>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Μόνο σύμβολα → 93% χάνονταν → λεξικό εμπορικών ονομάτων</a:t>
            </a:r>
          </a:p>
        </p:txBody>
      </p:sp>
      <p:sp>
        <p:nvSpPr>
          <p:cNvPr id="25" name="Rounded Rectangle 24"/>
          <p:cNvSpPr/>
          <p:nvPr/>
        </p:nvSpPr>
        <p:spPr>
          <a:xfrm>
            <a:off x="548640" y="4727448"/>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727448"/>
            <a:ext cx="109728" cy="1371600"/>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4855464"/>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Αραίωση συναισθήματος</a:t>
            </a:r>
          </a:p>
        </p:txBody>
      </p:sp>
      <p:sp>
        <p:nvSpPr>
          <p:cNvPr id="28" name="TextBox 27"/>
          <p:cNvSpPr txBox="1"/>
          <p:nvPr/>
        </p:nvSpPr>
        <p:spPr>
          <a:xfrm>
            <a:off x="822959" y="5349240"/>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2024+ δεδομένα → βάρος ×1.5 + δίκαιη αξιολόγηση</a:t>
            </a:r>
          </a:p>
        </p:txBody>
      </p:sp>
      <p:sp>
        <p:nvSpPr>
          <p:cNvPr id="29" name="Rounded Rectangle 28"/>
          <p:cNvSpPr/>
          <p:nvPr/>
        </p:nvSpPr>
        <p:spPr>
          <a:xfrm>
            <a:off x="6153912" y="4727448"/>
            <a:ext cx="5486400" cy="137160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3912" y="4727448"/>
            <a:ext cx="109728" cy="1371600"/>
          </a:xfrm>
          <a:prstGeom prst="rect">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4855464"/>
            <a:ext cx="5120640" cy="457200"/>
          </a:xfrm>
          <a:prstGeom prst="rect">
            <a:avLst/>
          </a:prstGeom>
          <a:noFill/>
        </p:spPr>
        <p:txBody>
          <a:bodyPr wrap="square" anchor="t" lIns="54864" rIns="54864" tIns="27432" bIns="27432">
            <a:spAutoFit/>
          </a:bodyPr>
          <a:lstStyle/>
          <a:p>
            <a:pPr algn="l">
              <a:spcAft>
                <a:spcPts val="400"/>
              </a:spcAft>
            </a:pPr>
            <a:r>
              <a:rPr sz="1450" b="1" i="0">
                <a:solidFill>
                  <a:srgbClr val="142E54"/>
                </a:solidFill>
                <a:latin typeface="Calibri"/>
              </a:rPr>
              <a:t>Κωδικοποίηση / CPU</a:t>
            </a:r>
          </a:p>
        </p:txBody>
      </p:sp>
      <p:sp>
        <p:nvSpPr>
          <p:cNvPr id="32" name="TextBox 31"/>
          <p:cNvSpPr txBox="1"/>
          <p:nvPr/>
        </p:nvSpPr>
        <p:spPr>
          <a:xfrm>
            <a:off x="6428231" y="5349240"/>
            <a:ext cx="5074920" cy="685800"/>
          </a:xfrm>
          <a:prstGeom prst="rect">
            <a:avLst/>
          </a:prstGeom>
          <a:noFill/>
        </p:spPr>
        <p:txBody>
          <a:bodyPr wrap="square" anchor="t" lIns="54864" rIns="54864" tIns="27432" bIns="27432">
            <a:spAutoFit/>
          </a:bodyPr>
          <a:lstStyle/>
          <a:p>
            <a:pPr algn="l">
              <a:spcAft>
                <a:spcPts val="400"/>
              </a:spcAft>
            </a:pPr>
            <a:r>
              <a:rPr sz="1200" b="0" i="0">
                <a:solidFill>
                  <a:srgbClr val="5A6370"/>
                </a:solidFill>
                <a:latin typeface="Calibri"/>
              </a:rPr>
              <a:t>UTF-8 fix · εκπαίδευση σε CPU (όχι GPU σε Windows)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ΥΠΕΎΘΥΝΗ ΤΝ</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Ασφάλεια &amp; ηθική τεχνητής νοημοσύνης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20</a:t>
            </a:r>
          </a:p>
        </p:txBody>
      </p:sp>
      <p:sp>
        <p:nvSpPr>
          <p:cNvPr id="9" name="Rounded Rectangle 8"/>
          <p:cNvSpPr/>
          <p:nvPr/>
        </p:nvSpPr>
        <p:spPr>
          <a:xfrm>
            <a:off x="548640" y="1737360"/>
            <a:ext cx="11091672" cy="84124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37360"/>
            <a:ext cx="128016" cy="8412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828800"/>
            <a:ext cx="3931920" cy="658368"/>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Απόρρητο δεδομένων</a:t>
            </a:r>
          </a:p>
        </p:txBody>
      </p:sp>
      <p:sp>
        <p:nvSpPr>
          <p:cNvPr id="12" name="TextBox 11"/>
          <p:cNvSpPr txBox="1"/>
          <p:nvPr/>
        </p:nvSpPr>
        <p:spPr>
          <a:xfrm>
            <a:off x="4937760" y="1828800"/>
            <a:ext cx="6537960" cy="658368"/>
          </a:xfrm>
          <a:prstGeom prst="rect">
            <a:avLst/>
          </a:prstGeom>
          <a:noFill/>
        </p:spPr>
        <p:txBody>
          <a:bodyPr wrap="square" anchor="ctr" lIns="54864" rIns="54864" tIns="27432" bIns="27432">
            <a:spAutoFit/>
          </a:bodyPr>
          <a:lstStyle/>
          <a:p>
            <a:pPr algn="l">
              <a:spcAft>
                <a:spcPts val="400"/>
              </a:spcAft>
            </a:pPr>
            <a:r>
              <a:rPr sz="1300" b="0" i="0">
                <a:solidFill>
                  <a:srgbClr val="5A6370"/>
                </a:solidFill>
                <a:latin typeface="Calibri"/>
              </a:rPr>
              <a:t>Μόνο δημόσια διαθέσιμα δεδομένα (ειδήσεις, τιμές) — κανένα προσωπικό δεδομένο χρήστη</a:t>
            </a:r>
          </a:p>
        </p:txBody>
      </p:sp>
      <p:sp>
        <p:nvSpPr>
          <p:cNvPr id="13" name="Rounded Rectangle 12"/>
          <p:cNvSpPr/>
          <p:nvPr/>
        </p:nvSpPr>
        <p:spPr>
          <a:xfrm>
            <a:off x="548640" y="2688336"/>
            <a:ext cx="11091672" cy="84124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688336"/>
            <a:ext cx="128016" cy="841248"/>
          </a:xfrm>
          <a:prstGeom prst="rect">
            <a:avLst/>
          </a:prstGeom>
          <a:solidFill>
            <a:srgbClr val="C039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79776"/>
            <a:ext cx="3931920" cy="658368"/>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Όχι επενδυτική συμβουλή</a:t>
            </a:r>
          </a:p>
        </p:txBody>
      </p:sp>
      <p:sp>
        <p:nvSpPr>
          <p:cNvPr id="16" name="TextBox 15"/>
          <p:cNvSpPr txBox="1"/>
          <p:nvPr/>
        </p:nvSpPr>
        <p:spPr>
          <a:xfrm>
            <a:off x="4937760" y="2779776"/>
            <a:ext cx="6537960" cy="658368"/>
          </a:xfrm>
          <a:prstGeom prst="rect">
            <a:avLst/>
          </a:prstGeom>
          <a:noFill/>
        </p:spPr>
        <p:txBody>
          <a:bodyPr wrap="square" anchor="ctr" lIns="54864" rIns="54864" tIns="27432" bIns="27432">
            <a:spAutoFit/>
          </a:bodyPr>
          <a:lstStyle/>
          <a:p>
            <a:pPr algn="l">
              <a:spcAft>
                <a:spcPts val="400"/>
              </a:spcAft>
            </a:pPr>
            <a:r>
              <a:rPr sz="1300" b="0" i="0">
                <a:solidFill>
                  <a:srgbClr val="5A6370"/>
                </a:solidFill>
                <a:latin typeface="Calibri"/>
              </a:rPr>
              <a:t>Εκπαιδευτικό/ερευνητικό εργαλείο υποστήριξης — ρητή αποποίηση ευθύνης, όχι σύσταση αγοραπωλησίας</a:t>
            </a:r>
          </a:p>
        </p:txBody>
      </p:sp>
      <p:sp>
        <p:nvSpPr>
          <p:cNvPr id="17" name="Rounded Rectangle 16"/>
          <p:cNvSpPr/>
          <p:nvPr/>
        </p:nvSpPr>
        <p:spPr>
          <a:xfrm>
            <a:off x="548640" y="3639312"/>
            <a:ext cx="11091672" cy="84124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39312"/>
            <a:ext cx="128016" cy="841248"/>
          </a:xfrm>
          <a:prstGeom prst="rect">
            <a:avLst/>
          </a:prstGeom>
          <a:solidFill>
            <a:srgbClr val="2E6F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730752"/>
            <a:ext cx="3931920" cy="658368"/>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Διαφάνεια &amp; ερμηνευσιμότητα</a:t>
            </a:r>
          </a:p>
        </p:txBody>
      </p:sp>
      <p:sp>
        <p:nvSpPr>
          <p:cNvPr id="20" name="TextBox 19"/>
          <p:cNvSpPr txBox="1"/>
          <p:nvPr/>
        </p:nvSpPr>
        <p:spPr>
          <a:xfrm>
            <a:off x="4937760" y="3730752"/>
            <a:ext cx="6537960" cy="658368"/>
          </a:xfrm>
          <a:prstGeom prst="rect">
            <a:avLst/>
          </a:prstGeom>
          <a:noFill/>
        </p:spPr>
        <p:txBody>
          <a:bodyPr wrap="square" anchor="ctr" lIns="54864" rIns="54864" tIns="27432" bIns="27432">
            <a:spAutoFit/>
          </a:bodyPr>
          <a:lstStyle/>
          <a:p>
            <a:pPr algn="l">
              <a:spcAft>
                <a:spcPts val="400"/>
              </a:spcAft>
            </a:pPr>
            <a:r>
              <a:rPr sz="1300" b="0" i="0">
                <a:solidFill>
                  <a:srgbClr val="5A6370"/>
                </a:solidFill>
                <a:latin typeface="Calibri"/>
              </a:rPr>
              <a:t>Κάθε πρόβλεψη εξηγείται με SHAP — όχι αδιαφανές «μαύρο κουτί»</a:t>
            </a:r>
          </a:p>
        </p:txBody>
      </p:sp>
      <p:sp>
        <p:nvSpPr>
          <p:cNvPr id="21" name="Rounded Rectangle 20"/>
          <p:cNvSpPr/>
          <p:nvPr/>
        </p:nvSpPr>
        <p:spPr>
          <a:xfrm>
            <a:off x="548640" y="4590288"/>
            <a:ext cx="11091672" cy="84124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90288"/>
            <a:ext cx="128016" cy="841248"/>
          </a:xfrm>
          <a:prstGeom prst="rect">
            <a:avLst/>
          </a:prstGeom>
          <a:solidFill>
            <a:srgbClr val="C88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681727"/>
            <a:ext cx="3931920" cy="658368"/>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Όρια &amp; μεροληψία</a:t>
            </a:r>
          </a:p>
        </p:txBody>
      </p:sp>
      <p:sp>
        <p:nvSpPr>
          <p:cNvPr id="24" name="TextBox 23"/>
          <p:cNvSpPr txBox="1"/>
          <p:nvPr/>
        </p:nvSpPr>
        <p:spPr>
          <a:xfrm>
            <a:off x="4937760" y="4681727"/>
            <a:ext cx="6537960" cy="658368"/>
          </a:xfrm>
          <a:prstGeom prst="rect">
            <a:avLst/>
          </a:prstGeom>
          <a:noFill/>
        </p:spPr>
        <p:txBody>
          <a:bodyPr wrap="square" anchor="ctr" lIns="54864" rIns="54864" tIns="27432" bIns="27432">
            <a:spAutoFit/>
          </a:bodyPr>
          <a:lstStyle/>
          <a:p>
            <a:pPr algn="l">
              <a:spcAft>
                <a:spcPts val="400"/>
              </a:spcAft>
            </a:pPr>
            <a:r>
              <a:rPr sz="1300" b="0" i="0">
                <a:solidFill>
                  <a:srgbClr val="5A6370"/>
                </a:solidFill>
                <a:latin typeface="Calibri"/>
              </a:rPr>
              <a:t>Ρητή αναγνώριση των ορίων· αποφυγή υπερβολικών ισχυρισμών· έντιμη αξιολόγηση</a:t>
            </a:r>
          </a:p>
        </p:txBody>
      </p:sp>
      <p:sp>
        <p:nvSpPr>
          <p:cNvPr id="25" name="Rounded Rectangle 24"/>
          <p:cNvSpPr/>
          <p:nvPr/>
        </p:nvSpPr>
        <p:spPr>
          <a:xfrm>
            <a:off x="548640" y="5541264"/>
            <a:ext cx="11091672" cy="841248"/>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541264"/>
            <a:ext cx="128016" cy="8412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5632703"/>
            <a:ext cx="3931920" cy="658368"/>
          </a:xfrm>
          <a:prstGeom prst="rect">
            <a:avLst/>
          </a:prstGeom>
          <a:noFill/>
        </p:spPr>
        <p:txBody>
          <a:bodyPr wrap="square" anchor="ctr" lIns="54864" rIns="54864" tIns="27432" bIns="27432">
            <a:spAutoFit/>
          </a:bodyPr>
          <a:lstStyle/>
          <a:p>
            <a:pPr algn="l">
              <a:spcAft>
                <a:spcPts val="400"/>
              </a:spcAft>
            </a:pPr>
            <a:r>
              <a:rPr sz="1500" b="1" i="0">
                <a:solidFill>
                  <a:srgbClr val="142E54"/>
                </a:solidFill>
                <a:latin typeface="Calibri"/>
              </a:rPr>
              <a:t>Υπεύθυνη χρήση</a:t>
            </a:r>
          </a:p>
        </p:txBody>
      </p:sp>
      <p:sp>
        <p:nvSpPr>
          <p:cNvPr id="28" name="TextBox 27"/>
          <p:cNvSpPr txBox="1"/>
          <p:nvPr/>
        </p:nvSpPr>
        <p:spPr>
          <a:xfrm>
            <a:off x="4937760" y="5632703"/>
            <a:ext cx="6537960" cy="658368"/>
          </a:xfrm>
          <a:prstGeom prst="rect">
            <a:avLst/>
          </a:prstGeom>
          <a:noFill/>
        </p:spPr>
        <p:txBody>
          <a:bodyPr wrap="square" anchor="ctr" lIns="54864" rIns="54864" tIns="27432" bIns="27432">
            <a:spAutoFit/>
          </a:bodyPr>
          <a:lstStyle/>
          <a:p>
            <a:pPr algn="l">
              <a:spcAft>
                <a:spcPts val="400"/>
              </a:spcAft>
            </a:pPr>
            <a:r>
              <a:rPr sz="1300" b="0" i="0">
                <a:solidFill>
                  <a:srgbClr val="5A6370"/>
                </a:solidFill>
                <a:latin typeface="Calibri"/>
              </a:rPr>
              <a:t>Το σύστημα υποστηρίζει τη λήψη απόφασης — ο άνθρωπος αποφασίζει, όχι ο αλγόριθμος</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ΑΠΟΤΊΜΗΣΗ ΈΡΓΟΥ</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Τι κερδίσαμε — τι δεν πετύχαμε</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21</a:t>
            </a:r>
          </a:p>
        </p:txBody>
      </p:sp>
      <p:sp>
        <p:nvSpPr>
          <p:cNvPr id="9" name="Rounded Rectangle 8"/>
          <p:cNvSpPr/>
          <p:nvPr/>
        </p:nvSpPr>
        <p:spPr>
          <a:xfrm>
            <a:off x="548640" y="1645920"/>
            <a:ext cx="5440680" cy="3794760"/>
          </a:xfrm>
          <a:prstGeom prst="roundRect">
            <a:avLst/>
          </a:prstGeom>
          <a:solidFill>
            <a:srgbClr val="ECF6EE"/>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5029200" cy="457200"/>
          </a:xfrm>
          <a:prstGeom prst="rect">
            <a:avLst/>
          </a:prstGeom>
          <a:noFill/>
        </p:spPr>
        <p:txBody>
          <a:bodyPr wrap="square" anchor="t" lIns="54864" rIns="54864" tIns="27432" bIns="27432">
            <a:spAutoFit/>
          </a:bodyPr>
          <a:lstStyle/>
          <a:p>
            <a:pPr algn="l">
              <a:spcAft>
                <a:spcPts val="400"/>
              </a:spcAft>
            </a:pPr>
            <a:r>
              <a:rPr sz="1700" b="1" i="0">
                <a:solidFill>
                  <a:srgbClr val="2E7D32"/>
                </a:solidFill>
                <a:latin typeface="Calibri"/>
              </a:rPr>
              <a:t>✓  Τι κερδίσαμε</a:t>
            </a:r>
          </a:p>
        </p:txBody>
      </p:sp>
      <p:sp>
        <p:nvSpPr>
          <p:cNvPr id="11" name="TextBox 10"/>
          <p:cNvSpPr txBox="1"/>
          <p:nvPr/>
        </p:nvSpPr>
        <p:spPr>
          <a:xfrm>
            <a:off x="777240" y="2331720"/>
            <a:ext cx="5029200" cy="3017520"/>
          </a:xfrm>
          <a:prstGeom prst="rect">
            <a:avLst/>
          </a:prstGeom>
          <a:noFill/>
        </p:spPr>
        <p:txBody>
          <a:bodyPr wrap="square">
            <a:spAutoFit/>
          </a:bodyPr>
          <a:lstStyle/>
          <a:p>
            <a:pPr>
              <a:spcAft>
                <a:spcPts val="900"/>
              </a:spcAft>
            </a:pPr>
            <a:r>
              <a:rPr sz="1400" b="1" i="0">
                <a:solidFill>
                  <a:srgbClr val="2E7D32"/>
                </a:solidFill>
                <a:latin typeface="Calibri"/>
              </a:rPr>
              <a:t>▸ </a:t>
            </a:r>
            <a:r>
              <a:rPr sz="1400" b="0" i="0">
                <a:solidFill>
                  <a:srgbClr val="202733"/>
                </a:solidFill>
                <a:latin typeface="Calibri"/>
              </a:rPr>
              <a:t>Πλήρες, λειτουργικό σύστημα end-to-end</a:t>
            </a:r>
          </a:p>
          <a:p>
            <a:pPr>
              <a:spcAft>
                <a:spcPts val="900"/>
              </a:spcAft>
            </a:pPr>
            <a:r>
              <a:rPr sz="1400" b="1" i="0">
                <a:solidFill>
                  <a:srgbClr val="2E7D32"/>
                </a:solidFill>
                <a:latin typeface="Calibri"/>
              </a:rPr>
              <a:t>▸ </a:t>
            </a:r>
            <a:r>
              <a:rPr sz="1400" b="0" i="0">
                <a:solidFill>
                  <a:srgbClr val="202733"/>
                </a:solidFill>
                <a:latin typeface="Calibri"/>
              </a:rPr>
              <a:t>Πρόβλεψη στατιστικά σημαντική (&gt; τυχαίο &amp; πλειοψηφία)</a:t>
            </a:r>
          </a:p>
          <a:p>
            <a:pPr>
              <a:spcAft>
                <a:spcPts val="900"/>
              </a:spcAft>
            </a:pPr>
            <a:r>
              <a:rPr sz="1400" b="1" i="0">
                <a:solidFill>
                  <a:srgbClr val="2E7D32"/>
                </a:solidFill>
                <a:latin typeface="Calibri"/>
              </a:rPr>
              <a:t>▸ </a:t>
            </a:r>
            <a:r>
              <a:rPr sz="1400" b="0" i="0">
                <a:solidFill>
                  <a:srgbClr val="202733"/>
                </a:solidFill>
                <a:latin typeface="Calibri"/>
              </a:rPr>
              <a:t>Τεκμηριωμένη αξία συναισθήματος (+1.4 έως +2.0 μον.)</a:t>
            </a:r>
          </a:p>
          <a:p>
            <a:pPr>
              <a:spcAft>
                <a:spcPts val="900"/>
              </a:spcAft>
            </a:pPr>
            <a:r>
              <a:rPr sz="1400" b="1" i="0">
                <a:solidFill>
                  <a:srgbClr val="2E7D32"/>
                </a:solidFill>
                <a:latin typeface="Calibri"/>
              </a:rPr>
              <a:t>▸ </a:t>
            </a:r>
            <a:r>
              <a:rPr sz="1400" b="0" i="0">
                <a:solidFill>
                  <a:srgbClr val="202733"/>
                </a:solidFill>
                <a:latin typeface="Calibri"/>
              </a:rPr>
              <a:t>Έντιμη, αναπαραγώγιμη μεθοδολογία (χωρίς διαρροή)</a:t>
            </a:r>
          </a:p>
          <a:p>
            <a:pPr>
              <a:spcAft>
                <a:spcPts val="900"/>
              </a:spcAft>
            </a:pPr>
            <a:r>
              <a:rPr sz="1400" b="1" i="0">
                <a:solidFill>
                  <a:srgbClr val="2E7D32"/>
                </a:solidFill>
                <a:latin typeface="Calibri"/>
              </a:rPr>
              <a:t>▸ </a:t>
            </a:r>
            <a:r>
              <a:rPr sz="1400" b="0" i="0">
                <a:solidFill>
                  <a:srgbClr val="202733"/>
                </a:solidFill>
                <a:latin typeface="Calibri"/>
              </a:rPr>
              <a:t>Διαφάνεια (SHAP) + ποσοτικοποίηση κινδύνου</a:t>
            </a:r>
          </a:p>
        </p:txBody>
      </p:sp>
      <p:sp>
        <p:nvSpPr>
          <p:cNvPr id="12" name="Rounded Rectangle 11"/>
          <p:cNvSpPr/>
          <p:nvPr/>
        </p:nvSpPr>
        <p:spPr>
          <a:xfrm>
            <a:off x="6172200" y="1645920"/>
            <a:ext cx="5468112" cy="3794760"/>
          </a:xfrm>
          <a:prstGeom prst="roundRect">
            <a:avLst/>
          </a:prstGeom>
          <a:solidFill>
            <a:srgbClr val="FBECEC"/>
          </a:solidFill>
          <a:ln w="12700">
            <a:solidFill>
              <a:srgbClr val="C0393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57200"/>
          </a:xfrm>
          <a:prstGeom prst="rect">
            <a:avLst/>
          </a:prstGeom>
          <a:noFill/>
        </p:spPr>
        <p:txBody>
          <a:bodyPr wrap="square" anchor="t" lIns="54864" rIns="54864" tIns="27432" bIns="27432">
            <a:spAutoFit/>
          </a:bodyPr>
          <a:lstStyle/>
          <a:p>
            <a:pPr algn="l">
              <a:spcAft>
                <a:spcPts val="400"/>
              </a:spcAft>
            </a:pPr>
            <a:r>
              <a:rPr sz="1700" b="1" i="0">
                <a:solidFill>
                  <a:srgbClr val="C03939"/>
                </a:solidFill>
                <a:latin typeface="Calibri"/>
              </a:rPr>
              <a:t>✗  Τι δεν πετύχαμε / όρια</a:t>
            </a:r>
          </a:p>
        </p:txBody>
      </p:sp>
      <p:sp>
        <p:nvSpPr>
          <p:cNvPr id="14" name="TextBox 13"/>
          <p:cNvSpPr txBox="1"/>
          <p:nvPr/>
        </p:nvSpPr>
        <p:spPr>
          <a:xfrm>
            <a:off x="6400800" y="2331720"/>
            <a:ext cx="5029200" cy="3017520"/>
          </a:xfrm>
          <a:prstGeom prst="rect">
            <a:avLst/>
          </a:prstGeom>
          <a:noFill/>
        </p:spPr>
        <p:txBody>
          <a:bodyPr wrap="square">
            <a:spAutoFit/>
          </a:bodyPr>
          <a:lstStyle/>
          <a:p>
            <a:pPr>
              <a:spcAft>
                <a:spcPts val="900"/>
              </a:spcAft>
            </a:pPr>
            <a:r>
              <a:rPr sz="1400" b="1" i="0">
                <a:solidFill>
                  <a:srgbClr val="C03939"/>
                </a:solidFill>
                <a:latin typeface="Calibri"/>
              </a:rPr>
              <a:t>▸ </a:t>
            </a:r>
            <a:r>
              <a:rPr sz="1400" b="0" i="0">
                <a:solidFill>
                  <a:srgbClr val="202733"/>
                </a:solidFill>
                <a:latin typeface="Calibri"/>
              </a:rPr>
              <a:t>Δεν κερδίζει σταθερά την αγορά</a:t>
            </a:r>
          </a:p>
          <a:p>
            <a:pPr>
              <a:spcAft>
                <a:spcPts val="900"/>
              </a:spcAft>
            </a:pPr>
            <a:r>
              <a:rPr sz="1400" b="1" i="0">
                <a:solidFill>
                  <a:srgbClr val="C03939"/>
                </a:solidFill>
                <a:latin typeface="Calibri"/>
              </a:rPr>
              <a:t>▸ </a:t>
            </a:r>
            <a:r>
              <a:rPr sz="1400" b="0" i="0">
                <a:solidFill>
                  <a:srgbClr val="202733"/>
                </a:solidFill>
                <a:latin typeface="Calibri"/>
              </a:rPr>
              <a:t>Μέτρια απόλυτη ακρίβεια (~41%)</a:t>
            </a:r>
          </a:p>
          <a:p>
            <a:pPr>
              <a:spcAft>
                <a:spcPts val="900"/>
              </a:spcAft>
            </a:pPr>
            <a:r>
              <a:rPr sz="1400" b="1" i="0">
                <a:solidFill>
                  <a:srgbClr val="C03939"/>
                </a:solidFill>
                <a:latin typeface="Calibri"/>
              </a:rPr>
              <a:t>▸ </a:t>
            </a:r>
            <a:r>
              <a:rPr sz="1400" b="0" i="0">
                <a:solidFill>
                  <a:srgbClr val="202733"/>
                </a:solidFill>
                <a:latin typeface="Calibri"/>
              </a:rPr>
              <a:t>Learned weights: όχι αξιόπιστα (λίγα δεδομένα)</a:t>
            </a:r>
          </a:p>
          <a:p>
            <a:pPr>
              <a:spcAft>
                <a:spcPts val="900"/>
              </a:spcAft>
            </a:pPr>
            <a:r>
              <a:rPr sz="1400" b="1" i="0">
                <a:solidFill>
                  <a:srgbClr val="C03939"/>
                </a:solidFill>
                <a:latin typeface="Calibri"/>
              </a:rPr>
              <a:t>▸ </a:t>
            </a:r>
            <a:r>
              <a:rPr sz="1400" b="0" i="0">
                <a:solidFill>
                  <a:srgbClr val="202733"/>
                </a:solidFill>
                <a:latin typeface="Calibri"/>
              </a:rPr>
              <a:t>Χωρίς κόστη συναλλαγών/slippage στο backtest</a:t>
            </a:r>
          </a:p>
          <a:p>
            <a:pPr>
              <a:spcAft>
                <a:spcPts val="900"/>
              </a:spcAft>
            </a:pPr>
            <a:r>
              <a:rPr sz="1400" b="1" i="0">
                <a:solidFill>
                  <a:srgbClr val="C03939"/>
                </a:solidFill>
                <a:latin typeface="Calibri"/>
              </a:rPr>
              <a:t>▸ </a:t>
            </a:r>
            <a:r>
              <a:rPr sz="1400" b="0" i="0">
                <a:solidFill>
                  <a:srgbClr val="202733"/>
                </a:solidFill>
                <a:latin typeface="Calibri"/>
              </a:rPr>
              <a:t>Συναίσθημα μόνο 2024+ (περιορισμένο ιστορικό)</a:t>
            </a:r>
          </a:p>
        </p:txBody>
      </p:sp>
      <p:sp>
        <p:nvSpPr>
          <p:cNvPr id="15" name="Rounded Rectangle 14"/>
          <p:cNvSpPr/>
          <p:nvPr/>
        </p:nvSpPr>
        <p:spPr>
          <a:xfrm>
            <a:off x="548640" y="5532120"/>
            <a:ext cx="11091672" cy="82296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96128"/>
            <a:ext cx="10607040" cy="685800"/>
          </a:xfrm>
          <a:prstGeom prst="rect">
            <a:avLst/>
          </a:prstGeom>
          <a:noFill/>
        </p:spPr>
        <p:txBody>
          <a:bodyPr wrap="square" anchor="ctr" lIns="54864" rIns="54864" tIns="27432" bIns="27432">
            <a:spAutoFit/>
          </a:bodyPr>
          <a:lstStyle/>
          <a:p>
            <a:pPr algn="l">
              <a:spcAft>
                <a:spcPts val="400"/>
              </a:spcAft>
            </a:pPr>
            <a:r>
              <a:rPr sz="1350" b="1" i="0">
                <a:solidFill>
                  <a:srgbClr val="FFFFFF"/>
                </a:solidFill>
                <a:latin typeface="Calibri"/>
              </a:rPr>
              <a:t>Το ζητούμενο δεν ήταν ένα 'μαγικό' ποσοστό, αλλά ένα έντιμο, ολοκληρωμένο και επεκτάσιμο σύστημα — με τεκμηριωμένη μεθοδολογία.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0058400" cy="274320"/>
          </a:xfrm>
          <a:prstGeom prst="rect">
            <a:avLst/>
          </a:prstGeom>
          <a:noFill/>
        </p:spPr>
        <p:txBody>
          <a:bodyPr wrap="square" anchor="t" lIns="54864" rIns="54864" tIns="27432" bIns="27432">
            <a:spAutoFit/>
          </a:bodyPr>
          <a:lstStyle/>
          <a:p>
            <a:pPr algn="l">
              <a:spcAft>
                <a:spcPts val="400"/>
              </a:spcAft>
            </a:pPr>
            <a:r>
              <a:rPr sz="1100" b="1" i="0">
                <a:solidFill>
                  <a:srgbClr val="148F88"/>
                </a:solidFill>
                <a:latin typeface="Calibri"/>
              </a:rPr>
              <a:t>ΕΠΊΛΟΓΟΣ</a:t>
            </a:r>
          </a:p>
        </p:txBody>
      </p:sp>
      <p:sp>
        <p:nvSpPr>
          <p:cNvPr id="5" name="TextBox 4"/>
          <p:cNvSpPr txBox="1"/>
          <p:nvPr/>
        </p:nvSpPr>
        <p:spPr>
          <a:xfrm>
            <a:off x="548640" y="475488"/>
            <a:ext cx="11064240" cy="822960"/>
          </a:xfrm>
          <a:prstGeom prst="rect">
            <a:avLst/>
          </a:prstGeom>
          <a:noFill/>
        </p:spPr>
        <p:txBody>
          <a:bodyPr wrap="square" anchor="t" lIns="54864" rIns="54864" tIns="27432" bIns="27432">
            <a:spAutoFit/>
          </a:bodyPr>
          <a:lstStyle/>
          <a:p>
            <a:pPr algn="l">
              <a:spcAft>
                <a:spcPts val="400"/>
              </a:spcAft>
            </a:pPr>
            <a:r>
              <a:rPr sz="2900" b="1" i="0">
                <a:solidFill>
                  <a:srgbClr val="142E54"/>
                </a:solidFill>
                <a:latin typeface="Calibri"/>
              </a:rPr>
              <a:t>Συμπεράσματα &amp; μελλοντικές προοπτικές</a:t>
            </a:r>
          </a:p>
        </p:txBody>
      </p:sp>
      <p:sp>
        <p:nvSpPr>
          <p:cNvPr id="6" name="Rectangle 5"/>
          <p:cNvSpPr/>
          <p:nvPr/>
        </p:nvSpPr>
        <p:spPr>
          <a:xfrm>
            <a:off x="576072" y="1298448"/>
            <a:ext cx="1828800" cy="41148"/>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19088"/>
            <a:ext cx="7315200" cy="274320"/>
          </a:xfrm>
          <a:prstGeom prst="rect">
            <a:avLst/>
          </a:prstGeom>
          <a:noFill/>
        </p:spPr>
        <p:txBody>
          <a:bodyPr wrap="square" anchor="t" lIns="54864" rIns="54864" tIns="27432" bIns="27432">
            <a:spAutoFit/>
          </a:bodyPr>
          <a:lstStyle/>
          <a:p>
            <a:pPr algn="l">
              <a:spcAft>
                <a:spcPts val="400"/>
              </a:spcAft>
            </a:pPr>
            <a:r>
              <a:rPr sz="900" b="0" i="0">
                <a:solidFill>
                  <a:srgbClr val="5A6370"/>
                </a:solidFill>
                <a:latin typeface="Calibri"/>
              </a:rPr>
              <a:t>Αλέξανδρος Λένης · Διπλωματική Εργασία 2026</a:t>
            </a:r>
          </a:p>
        </p:txBody>
      </p:sp>
      <p:sp>
        <p:nvSpPr>
          <p:cNvPr id="8" name="TextBox 7"/>
          <p:cNvSpPr txBox="1"/>
          <p:nvPr/>
        </p:nvSpPr>
        <p:spPr>
          <a:xfrm>
            <a:off x="10789920" y="6419088"/>
            <a:ext cx="914400" cy="274320"/>
          </a:xfrm>
          <a:prstGeom prst="rect">
            <a:avLst/>
          </a:prstGeom>
          <a:noFill/>
        </p:spPr>
        <p:txBody>
          <a:bodyPr wrap="square" anchor="t" lIns="54864" rIns="54864" tIns="27432" bIns="27432">
            <a:spAutoFit/>
          </a:bodyPr>
          <a:lstStyle/>
          <a:p>
            <a:pPr algn="r">
              <a:spcAft>
                <a:spcPts val="400"/>
              </a:spcAft>
            </a:pPr>
            <a:r>
              <a:rPr sz="900" b="1" i="0">
                <a:solidFill>
                  <a:srgbClr val="5A6370"/>
                </a:solidFill>
                <a:latin typeface="Calibri"/>
              </a:rPr>
              <a:t>22</a:t>
            </a:r>
          </a:p>
        </p:txBody>
      </p:sp>
      <p:sp>
        <p:nvSpPr>
          <p:cNvPr id="9" name="Rounded Rectangle 8"/>
          <p:cNvSpPr/>
          <p:nvPr/>
        </p:nvSpPr>
        <p:spPr>
          <a:xfrm>
            <a:off x="548640" y="1645920"/>
            <a:ext cx="5440680" cy="4297680"/>
          </a:xfrm>
          <a:prstGeom prst="round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783080"/>
            <a:ext cx="5029200" cy="457200"/>
          </a:xfrm>
          <a:prstGeom prst="rect">
            <a:avLst/>
          </a:prstGeom>
          <a:noFill/>
        </p:spPr>
        <p:txBody>
          <a:bodyPr wrap="square" anchor="t" lIns="54864" rIns="54864" tIns="27432" bIns="27432">
            <a:spAutoFit/>
          </a:bodyPr>
          <a:lstStyle/>
          <a:p>
            <a:pPr algn="l">
              <a:spcAft>
                <a:spcPts val="400"/>
              </a:spcAft>
            </a:pPr>
            <a:r>
              <a:rPr sz="1800" b="1" i="0">
                <a:solidFill>
                  <a:srgbClr val="7FD1C8"/>
                </a:solidFill>
                <a:latin typeface="Calibri"/>
              </a:rPr>
              <a:t>Συμπεράσματα</a:t>
            </a:r>
          </a:p>
        </p:txBody>
      </p:sp>
      <p:sp>
        <p:nvSpPr>
          <p:cNvPr id="11" name="TextBox 10"/>
          <p:cNvSpPr txBox="1"/>
          <p:nvPr/>
        </p:nvSpPr>
        <p:spPr>
          <a:xfrm>
            <a:off x="777240" y="2331720"/>
            <a:ext cx="5029200" cy="3474720"/>
          </a:xfrm>
          <a:prstGeom prst="rect">
            <a:avLst/>
          </a:prstGeom>
          <a:noFill/>
        </p:spPr>
        <p:txBody>
          <a:bodyPr wrap="square">
            <a:spAutoFit/>
          </a:bodyPr>
          <a:lstStyle/>
          <a:p>
            <a:pPr>
              <a:spcAft>
                <a:spcPts val="800"/>
              </a:spcAft>
            </a:pPr>
            <a:r>
              <a:rPr sz="1500" b="1" i="0">
                <a:solidFill>
                  <a:srgbClr val="148F88"/>
                </a:solidFill>
                <a:latin typeface="Calibri"/>
              </a:rPr>
              <a:t>▸ </a:t>
            </a:r>
            <a:r>
              <a:rPr sz="1500" b="0" i="0">
                <a:solidFill>
                  <a:srgbClr val="FFFFFF"/>
                </a:solidFill>
                <a:latin typeface="Calibri"/>
              </a:rPr>
              <a:t>Πλήρες, λειτουργικό, ανοιχτού κώδικα σύστημα</a:t>
            </a:r>
          </a:p>
          <a:p>
            <a:pPr>
              <a:spcAft>
                <a:spcPts val="800"/>
              </a:spcAft>
            </a:pPr>
            <a:r>
              <a:rPr sz="1500" b="1" i="0">
                <a:solidFill>
                  <a:srgbClr val="148F88"/>
                </a:solidFill>
                <a:latin typeface="Calibri"/>
              </a:rPr>
              <a:t>▸ </a:t>
            </a:r>
            <a:r>
              <a:rPr sz="1500" b="0" i="0">
                <a:solidFill>
                  <a:srgbClr val="FFFFFF"/>
                </a:solidFill>
                <a:latin typeface="Calibri"/>
              </a:rPr>
              <a:t>Μετρήσιμη &amp; στατιστικά σημαντική ικανότητα</a:t>
            </a:r>
          </a:p>
          <a:p>
            <a:pPr>
              <a:spcAft>
                <a:spcPts val="800"/>
              </a:spcAft>
            </a:pPr>
            <a:r>
              <a:rPr sz="1500" b="1" i="0">
                <a:solidFill>
                  <a:srgbClr val="148F88"/>
                </a:solidFill>
                <a:latin typeface="Calibri"/>
              </a:rPr>
              <a:t>▸ </a:t>
            </a:r>
            <a:r>
              <a:rPr sz="1500" b="0" i="0">
                <a:solidFill>
                  <a:srgbClr val="FFFFFF"/>
                </a:solidFill>
                <a:latin typeface="Calibri"/>
              </a:rPr>
              <a:t>Τεκμηριωμένη συνεισφορά του συναισθήματος</a:t>
            </a:r>
          </a:p>
          <a:p>
            <a:pPr>
              <a:spcAft>
                <a:spcPts val="800"/>
              </a:spcAft>
            </a:pPr>
            <a:r>
              <a:rPr sz="1500" b="1" i="0">
                <a:solidFill>
                  <a:srgbClr val="148F88"/>
                </a:solidFill>
                <a:latin typeface="Calibri"/>
              </a:rPr>
              <a:t>▸ </a:t>
            </a:r>
            <a:r>
              <a:rPr sz="1500" b="0" i="0">
                <a:solidFill>
                  <a:srgbClr val="FFFFFF"/>
                </a:solidFill>
                <a:latin typeface="Calibri"/>
              </a:rPr>
              <a:t>Αυστηρή, έντιμη μεθοδολογία</a:t>
            </a:r>
          </a:p>
          <a:p>
            <a:pPr>
              <a:spcAft>
                <a:spcPts val="800"/>
              </a:spcAft>
            </a:pPr>
            <a:r>
              <a:rPr sz="1500" b="1" i="0">
                <a:solidFill>
                  <a:srgbClr val="148F88"/>
                </a:solidFill>
                <a:latin typeface="Calibri"/>
              </a:rPr>
              <a:t>▸ </a:t>
            </a:r>
            <a:r>
              <a:rPr sz="1500" b="0" i="0">
                <a:solidFill>
                  <a:srgbClr val="FFFFFF"/>
                </a:solidFill>
                <a:latin typeface="Calibri"/>
              </a:rPr>
              <a:t>Διαφανής ανάδειξη δυνατοτήτων ΚΑΙ ορίων</a:t>
            </a:r>
          </a:p>
        </p:txBody>
      </p:sp>
      <p:sp>
        <p:nvSpPr>
          <p:cNvPr id="12" name="Rounded Rectangle 11"/>
          <p:cNvSpPr/>
          <p:nvPr/>
        </p:nvSpPr>
        <p:spPr>
          <a:xfrm>
            <a:off x="6172200" y="1645920"/>
            <a:ext cx="5468112" cy="4297680"/>
          </a:xfrm>
          <a:prstGeom prst="roundRect">
            <a:avLst/>
          </a:prstGeom>
          <a:solidFill>
            <a:srgbClr val="F5F8FC"/>
          </a:solidFill>
          <a:ln w="12700">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783080"/>
            <a:ext cx="5029200" cy="457200"/>
          </a:xfrm>
          <a:prstGeom prst="rect">
            <a:avLst/>
          </a:prstGeom>
          <a:noFill/>
        </p:spPr>
        <p:txBody>
          <a:bodyPr wrap="square" anchor="t" lIns="54864" rIns="54864" tIns="27432" bIns="27432">
            <a:spAutoFit/>
          </a:bodyPr>
          <a:lstStyle/>
          <a:p>
            <a:pPr algn="l">
              <a:spcAft>
                <a:spcPts val="400"/>
              </a:spcAft>
            </a:pPr>
            <a:r>
              <a:rPr sz="1800" b="1" i="0">
                <a:solidFill>
                  <a:srgbClr val="142E54"/>
                </a:solidFill>
                <a:latin typeface="Calibri"/>
              </a:rPr>
              <a:t>Μελλοντικές προοπτικές</a:t>
            </a:r>
          </a:p>
        </p:txBody>
      </p:sp>
      <p:sp>
        <p:nvSpPr>
          <p:cNvPr id="14" name="TextBox 13"/>
          <p:cNvSpPr txBox="1"/>
          <p:nvPr/>
        </p:nvSpPr>
        <p:spPr>
          <a:xfrm>
            <a:off x="6400800" y="2331720"/>
            <a:ext cx="5029200" cy="3474720"/>
          </a:xfrm>
          <a:prstGeom prst="rect">
            <a:avLst/>
          </a:prstGeom>
          <a:noFill/>
        </p:spPr>
        <p:txBody>
          <a:bodyPr wrap="square">
            <a:spAutoFit/>
          </a:bodyPr>
          <a:lstStyle/>
          <a:p>
            <a:pPr>
              <a:spcAft>
                <a:spcPts val="800"/>
              </a:spcAft>
            </a:pPr>
            <a:r>
              <a:rPr sz="1500" b="1" i="0">
                <a:solidFill>
                  <a:srgbClr val="2E6FB7"/>
                </a:solidFill>
                <a:latin typeface="Calibri"/>
              </a:rPr>
              <a:t>▸ </a:t>
            </a:r>
            <a:r>
              <a:rPr sz="1500" b="0" i="0">
                <a:solidFill>
                  <a:srgbClr val="202733"/>
                </a:solidFill>
                <a:latin typeface="Calibri"/>
              </a:rPr>
              <a:t>Μεγαλύτερο ιστορικό βάθος συναισθήματος</a:t>
            </a:r>
          </a:p>
          <a:p>
            <a:pPr>
              <a:spcAft>
                <a:spcPts val="800"/>
              </a:spcAft>
            </a:pPr>
            <a:r>
              <a:rPr sz="1500" b="1" i="0">
                <a:solidFill>
                  <a:srgbClr val="2E6FB7"/>
                </a:solidFill>
                <a:latin typeface="Calibri"/>
              </a:rPr>
              <a:t>▸ </a:t>
            </a:r>
            <a:r>
              <a:rPr sz="1500" b="0" i="0">
                <a:solidFill>
                  <a:srgbClr val="202733"/>
                </a:solidFill>
                <a:latin typeface="Calibri"/>
              </a:rPr>
              <a:t>Μάθηση βαρών αξιοπιστίας από τα δεδομένα</a:t>
            </a:r>
          </a:p>
          <a:p>
            <a:pPr>
              <a:spcAft>
                <a:spcPts val="800"/>
              </a:spcAft>
            </a:pPr>
            <a:r>
              <a:rPr sz="1500" b="1" i="0">
                <a:solidFill>
                  <a:srgbClr val="2E6FB7"/>
                </a:solidFill>
                <a:latin typeface="Calibri"/>
              </a:rPr>
              <a:t>▸ </a:t>
            </a:r>
            <a:r>
              <a:rPr sz="1500" b="0" i="0">
                <a:solidFill>
                  <a:srgbClr val="202733"/>
                </a:solidFill>
                <a:latin typeface="Calibri"/>
              </a:rPr>
              <a:t>Προσαρμογή σε market regimes (bull/bear)</a:t>
            </a:r>
          </a:p>
          <a:p>
            <a:pPr>
              <a:spcAft>
                <a:spcPts val="800"/>
              </a:spcAft>
            </a:pPr>
            <a:r>
              <a:rPr sz="1500" b="1" i="0">
                <a:solidFill>
                  <a:srgbClr val="2E6FB7"/>
                </a:solidFill>
                <a:latin typeface="Calibri"/>
              </a:rPr>
              <a:t>▸ </a:t>
            </a:r>
            <a:r>
              <a:rPr sz="1500" b="0" i="0">
                <a:solidFill>
                  <a:srgbClr val="202733"/>
                </a:solidFill>
                <a:latin typeface="Calibri"/>
              </a:rPr>
              <a:t>Ενσωμάτωση κόστους συναλλαγών</a:t>
            </a:r>
          </a:p>
          <a:p>
            <a:pPr>
              <a:spcAft>
                <a:spcPts val="800"/>
              </a:spcAft>
            </a:pPr>
            <a:r>
              <a:rPr sz="1500" b="1" i="0">
                <a:solidFill>
                  <a:srgbClr val="2E6FB7"/>
                </a:solidFill>
                <a:latin typeface="Calibri"/>
              </a:rPr>
              <a:t>▸ </a:t>
            </a:r>
            <a:r>
              <a:rPr sz="1500" b="0" i="0">
                <a:solidFill>
                  <a:srgbClr val="202733"/>
                </a:solidFill>
                <a:latin typeface="Calibri"/>
              </a:rPr>
              <a:t>Επέκταση σε άλλες αγορές</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E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46120"/>
            <a:ext cx="12191695" cy="45720"/>
          </a:xfrm>
          <a:prstGeom prst="rect">
            <a:avLst/>
          </a:prstGeom>
          <a:solidFill>
            <a:srgbClr val="148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32720" cy="1097280"/>
          </a:xfrm>
          <a:prstGeom prst="rect">
            <a:avLst/>
          </a:prstGeom>
          <a:noFill/>
        </p:spPr>
        <p:txBody>
          <a:bodyPr wrap="square" anchor="t" lIns="54864" rIns="54864" tIns="27432" bIns="27432">
            <a:spAutoFit/>
          </a:bodyPr>
          <a:lstStyle/>
          <a:p>
            <a:pPr algn="ctr">
              <a:spcAft>
                <a:spcPts val="400"/>
              </a:spcAft>
            </a:pPr>
            <a:r>
              <a:rPr sz="4400" b="1" i="0">
                <a:solidFill>
                  <a:srgbClr val="FFFFFF"/>
                </a:solidFill>
                <a:latin typeface="Calibri"/>
              </a:rPr>
              <a:t>Σας ευχαριστώ</a:t>
            </a:r>
          </a:p>
        </p:txBody>
      </p:sp>
      <p:sp>
        <p:nvSpPr>
          <p:cNvPr id="5" name="TextBox 4"/>
          <p:cNvSpPr txBox="1"/>
          <p:nvPr/>
        </p:nvSpPr>
        <p:spPr>
          <a:xfrm>
            <a:off x="914400" y="3474720"/>
            <a:ext cx="10332720" cy="1280160"/>
          </a:xfrm>
          <a:prstGeom prst="rect">
            <a:avLst/>
          </a:prstGeom>
          <a:noFill/>
        </p:spPr>
        <p:txBody>
          <a:bodyPr wrap="square" anchor="t" lIns="54864" rIns="54864" tIns="27432" bIns="27432">
            <a:spAutoFit/>
          </a:bodyPr>
          <a:lstStyle/>
          <a:p>
            <a:pPr algn="ctr">
              <a:spcAft>
                <a:spcPts val="300"/>
              </a:spcAft>
            </a:pPr>
            <a:r>
              <a:rPr sz="1600" b="0" i="0">
                <a:solidFill>
                  <a:srgbClr val="C9D7EA"/>
                </a:solidFill>
                <a:latin typeface="Calibri"/>
              </a:rPr>
              <a:t>Ευχαριστώ τον επιβλέποντα, Αναπλ. Καθηγητή κ. Σωτήρη Χριστοδούλου,</a:t>
            </a:r>
          </a:p>
          <a:p>
            <a:pPr algn="ctr">
              <a:spcAft>
                <a:spcPts val="1000"/>
              </a:spcAft>
            </a:pPr>
            <a:r>
              <a:rPr sz="1600" b="0" i="0">
                <a:solidFill>
                  <a:srgbClr val="C9D7EA"/>
                </a:solidFill>
                <a:latin typeface="Calibri"/>
              </a:rPr>
              <a:t>και τα μέλη της επιτροπής για τον χρόνο τους.</a:t>
            </a:r>
          </a:p>
          <a:p>
            <a:pPr algn="ctr">
              <a:spcAft>
                <a:spcPts val="400"/>
              </a:spcAft>
            </a:pPr>
            <a:r>
              <a:rPr sz="2200" b="1" i="0">
                <a:solidFill>
                  <a:srgbClr val="7FD1C8"/>
                </a:solidFill>
                <a:latin typeface="Calibri"/>
              </a:rPr>
              <a:t>Ερωτήσεις;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